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62626"/>
    <a:srgbClr val="F97316"/>
    <a:srgbClr val="516E37"/>
    <a:srgbClr val="99BB77"/>
    <a:srgbClr val="EEC096"/>
    <a:srgbClr val="BFD5AB"/>
    <a:srgbClr val="DF8534"/>
    <a:srgbClr val="181818"/>
    <a:srgbClr val="111827"/>
    <a:srgbClr val="F9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739" autoAdjust="0"/>
    <p:restoredTop sz="75728" autoAdjust="0"/>
  </p:normalViewPr>
  <p:slideViewPr>
    <p:cSldViewPr snapToGrid="0" snapToObjects="1">
      <p:cViewPr>
        <p:scale>
          <a:sx n="50" d="100"/>
          <a:sy n="50" d="100"/>
        </p:scale>
        <p:origin x="684" y="792"/>
      </p:cViewPr>
      <p:guideLst>
        <p:guide orient="horz" pos="2160"/>
        <p:guide pos="2880"/>
      </p:guideLst>
    </p:cSldViewPr>
  </p:slideViewPr>
  <p:notesTextViewPr>
    <p:cViewPr>
      <p:scale>
        <a:sx n="75" d="100"/>
        <a:sy n="7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Élőfej hely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F7AC1F-626B-4863-A7FD-CB897FDC432B}" type="datetimeFigureOut">
              <a:rPr lang="hu-HU" smtClean="0"/>
              <a:t>2026. 03. 05.</a:t>
            </a:fld>
            <a:endParaRPr lang="hu-HU"/>
          </a:p>
        </p:txBody>
      </p:sp>
      <p:sp>
        <p:nvSpPr>
          <p:cNvPr id="4" name="Diakép hely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hu-HU"/>
          </a:p>
        </p:txBody>
      </p:sp>
      <p:sp>
        <p:nvSpPr>
          <p:cNvPr id="5" name="Jegyzetek hely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ECD73C-CA27-48EE-AEC9-3D4EB02316DD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6907425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vscode-file://vscode-app/c:/Users/mate2/AppData/Local/Programs/Microsoft%20VS%20Code/072586267e/resources/app/out/vs/code/electron-browser/workbench/workbench.html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Hiányzó egységesség</a:t>
            </a:r>
            <a:br>
              <a:rPr lang="hu-HU" dirty="0"/>
            </a:br>
            <a:r>
              <a:rPr lang="hu-HU" dirty="0"/>
              <a:t>Nincs egységes kempingfoglaló platform, a piac töredezett és átláthatatlan.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Bonyolult folyamatok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Eltérő, sokszor papíralapú vagy elavult foglalási és adminisztrációs rendszerek.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Manuális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Helyszíni sorban állás, emberi erőforrás igényes ellenőrzés és magas hibalehetőség.</a:t>
            </a:r>
            <a:br>
              <a:rPr lang="hu-HU" dirty="0"/>
            </a:b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Egységes platform</a:t>
            </a:r>
            <a:br>
              <a:rPr lang="hu-HU" dirty="0"/>
            </a:br>
            <a:r>
              <a:rPr lang="hu-HU" dirty="0"/>
              <a:t>Modern, felhasználóbarát felület, ahol minden kemping egy helyen elérhető.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IoT</a:t>
            </a:r>
            <a:r>
              <a:rPr lang="hu-HU" dirty="0"/>
              <a:t>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Automatikus sorompó nyitás QR-kód alapú azonosítással, emberi beavatkozás nélkül.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Okos Szűrés</a:t>
            </a:r>
            <a:br>
              <a:rPr lang="hu-HU" dirty="0"/>
            </a:br>
            <a:r>
              <a:rPr lang="hu-HU" dirty="0"/>
              <a:t>Valós idejű foglaltság, részletes szűrők a tökéletes hely megtalálásához.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2661826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Hiányzó egységesség</a:t>
            </a:r>
            <a:br>
              <a:rPr lang="hu-HU" dirty="0"/>
            </a:br>
            <a:r>
              <a:rPr lang="hu-HU" dirty="0"/>
              <a:t>Nincs egységes kempingfoglaló platform, a piac töredezett és átláthatatlan.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Bonyolult folyamatok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Eltérő, sokszor papíralapú vagy elavult foglalási és adminisztrációs rendszerek.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Manuális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Helyszíni sorban állás, emberi erőforrás igényes ellenőrzés és magas hibalehetőség.</a:t>
            </a:r>
            <a:br>
              <a:rPr lang="hu-HU" dirty="0"/>
            </a:b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Egységes platform</a:t>
            </a:r>
            <a:br>
              <a:rPr lang="hu-HU" dirty="0"/>
            </a:br>
            <a:r>
              <a:rPr lang="hu-HU" dirty="0"/>
              <a:t>Modern, felhasználóbarát felület, ahol minden kemping egy helyen elérhető.</a:t>
            </a:r>
            <a:br>
              <a:rPr lang="hu-HU" dirty="0"/>
            </a:br>
            <a:br>
              <a:rPr lang="hu-HU" dirty="0"/>
            </a:br>
            <a:r>
              <a:rPr lang="hu-HU" dirty="0" err="1"/>
              <a:t>IoT</a:t>
            </a:r>
            <a:r>
              <a:rPr lang="hu-HU" dirty="0"/>
              <a:t> Beléptetés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Automatikus sorompó nyitás QR-kód alapú azonosítással, emberi beavatkozás nélkül.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hu-HU" dirty="0"/>
            </a:br>
            <a:r>
              <a:rPr lang="hu-HU" dirty="0"/>
              <a:t>Okos Szűrés</a:t>
            </a:r>
            <a:br>
              <a:rPr lang="hu-HU" dirty="0"/>
            </a:br>
            <a:r>
              <a:rPr lang="hu-HU" dirty="0"/>
              <a:t>Valós idejű foglaltság, részletes szűrők a tökéletes hely megtalálásához.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u-HU" dirty="0"/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2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40664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u-HU" dirty="0"/>
              <a:t>Backend</a:t>
            </a:r>
            <a:br>
              <a:rPr lang="hu-HU" dirty="0"/>
            </a:br>
            <a:r>
              <a:rPr lang="hu-HU" dirty="0"/>
              <a:t>Node.js QR Dekóder (</a:t>
            </a:r>
            <a:r>
              <a:rPr lang="hu-HU" dirty="0" err="1"/>
              <a:t>jsQR,Jimp</a:t>
            </a:r>
            <a:r>
              <a:rPr lang="hu-HU" dirty="0"/>
              <a:t>)</a:t>
            </a:r>
            <a:br>
              <a:rPr lang="hu-HU" dirty="0"/>
            </a:br>
            <a:br>
              <a:rPr lang="hu-HU" dirty="0"/>
            </a:br>
            <a:r>
              <a:rPr lang="hu-HU" dirty="0"/>
              <a:t>Hardver</a:t>
            </a:r>
            <a:br>
              <a:rPr lang="hu-HU" dirty="0"/>
            </a:b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WiFi (HTTP)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(WiFiManager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captive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portállal)</a:t>
            </a:r>
          </a:p>
          <a:p>
            <a:br>
              <a:rPr lang="hu-HU" dirty="0"/>
            </a:b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4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9783693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dia a backend architektúrát mutatja be. A szerver oldalon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12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 használunk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PHP 8.2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-vel. 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autentikációt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Laravel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kezeli — ez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alapú hitelesítést biztosít, tehát a frontend minden kéréshez egy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Bearer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küld.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réteg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felelős a jogosultságok ellenőrzéséért és a CORS beállításokért — így csak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autentikált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felhasználók érhetik el a védett végpontokat.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kontrollerjeink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Pattern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-t követik — ez azt jelenti, hogy az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apiResource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útválasztással automatikusan létrejönnek az index,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show, update,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destroy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végpontok. A validációt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FormRequest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osztályokkal oldjuk meg, nem a kontrollerben kézzel.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jobb oldalon látható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store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metódusa: a bejövő adatokat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validáljuk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majd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Eloquent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ORM-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létrehozzuk a foglalást és JSON-ben visszaadjuk 201-es státusszal. Összesen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kontrollert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tartalmaz a backend — ezek láthatók a fájllistában."</a:t>
            </a:r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5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430058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dia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Eloquent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modelleket és relációikat mutatja.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alkalmazásban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modell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van: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Comment,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UserGuest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CampingPhoto,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CampingTag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4 fő modell —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egy hierarchikus láncot alkot: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Camping-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Camping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User-hez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-ot,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-ot,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-hoz.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Comment modell a vendégértékeléseket tárolja,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pedig a QR-kódos beléptetőkapukat kezeli.</a:t>
            </a: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6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162709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Ez a dia az API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route-okat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controllereket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mutatja. Összesen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12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van, ami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50-nél több végpontot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szolgál ki az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api.php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-ban.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első kártya az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ami a regisztrációt, bejelentkezést, jelszó-visszaállítást és e-mail verifikációt kezeli — mindent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tokenekkel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második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kemping-kezelés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CampingPhotoController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CampingTagController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Resource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-szerűen működik — CRUD műveletekkel a kempingekhez, helyekhez, képekhez és címkékhez.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harmadik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foglalási logika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felelős a foglalások teljes életciklusáért — létrehozás, QR-kód generálás, státuszfrissítés, valamint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vendégértékelésekért és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UserGuestController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vendégadatokért.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negyedik kártya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QR beléptetés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IoT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része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scanImage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végpont publikus — ez az ESP32-S3 kamerás kapunak van fenntartva. Ez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szándékosan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előtt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 regisztrálva, mert az ESP32 saját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Bearer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auth_tokent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használ, nem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-ot. A szerveren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jsQR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Node.js modul dekódolja a képet.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ötödik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keresés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tulajdonosi statisztikákat szolgáltatja,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SearchController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autocomplete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javaslatokat, címke- és ár-szűrőket,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BookingSearchController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pedig a foglalás-specifikus keresést.</a:t>
            </a: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kód panelen a legfontosabb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route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-struktúra látható: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-image 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előtt, majd a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auth:sanctum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')-&gt;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group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(...) blokk, amiben a védett végpontok vannak — foglalás, QR kód lekérés,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scan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dashboard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két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badge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alul jelzi: REST API architektúrát használunk, és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réteg biztosítja a jogosultságkezelést az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auth:sanctum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middleware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védi az összes nem-publikus végpontot."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7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4242192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8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3711158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 adatbázis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PostgreSQL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a Neon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Cloud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platformon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hostolva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— ez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serverless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tehát automatikusan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skálázódik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ingyenes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-en is elérhető.</a:t>
            </a:r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endParaRPr lang="hu-HU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 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Eloquent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modell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van: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Comment,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UserGuest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CampingPhoto,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CampingTag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központi entitás a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ez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belongsTo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User-hez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Location-höz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hasMany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spots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photos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tags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comments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és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entranceGates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felé.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CampingSpot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tartalmazza az árat 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price_per_night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kapacitást, típust. A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Booking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ehhez kapcsolódik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camping_spot_id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foreign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-jel, és van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qr_code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mezője a beléptetéshez.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Az </a:t>
            </a:r>
            <a:r>
              <a:rPr lang="hu-HU" sz="1200" b="1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EntranceGate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a kempinghez tartozik 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), nem a foglaláshoz — saját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auth_token-nel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rendelkezik az ESP32 hardver azonosításhoz.</a:t>
            </a:r>
          </a:p>
          <a:p>
            <a:b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</a:b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Minden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foreign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key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onDelete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('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cascade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') — ha törlünk egy kempinget, a hozzá tartozó összes spot, fotó, tag, kapu és foglalás automatikusan törlődik.</a:t>
            </a:r>
          </a:p>
          <a:p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Összetett indexek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biztosítják a gyors keresést: 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camping_spot_id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arrival_date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departure_date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a foglalás-ütközés ellenőrzésre, 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tag) 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unique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constraint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a dupla tageknél, 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camping_id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timestamp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 a kapu-eseményeknél.</a:t>
            </a:r>
          </a:p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9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8843046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10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82492401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Postman egy </a:t>
            </a:r>
            <a:r>
              <a:rPr lang="hu-HU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REST API fejlesztő és tesztelő eszköz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Gyűjteményekbe (</a:t>
            </a:r>
            <a:r>
              <a:rPr lang="hu-HU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Collection</a:t>
            </a:r>
            <a:r>
              <a:rPr lang="hu-HU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szervezett HTTP kérésekkel teszteli az API végpontokat.</a:t>
            </a:r>
          </a:p>
          <a:p>
            <a:br>
              <a:rPr lang="hu-HU" dirty="0"/>
            </a:br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11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60345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akép hely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Jegyzetek hely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u-HU" dirty="0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ECD73C-CA27-48EE-AEC9-3D4EB02316DD}" type="slidenum">
              <a:rPr lang="hu-HU" smtClean="0"/>
              <a:t>13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503957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855567" y="731520"/>
            <a:ext cx="448056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855567" y="798760"/>
            <a:ext cx="448056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Vizsgaremek</a:t>
            </a:r>
            <a:r>
              <a:rPr dirty="0"/>
              <a:t> •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852928"/>
            <a:ext cx="1033272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dirty="0" err="1">
                <a:solidFill>
                  <a:srgbClr val="374151"/>
                </a:solidFill>
                <a:latin typeface="Segoe UI"/>
              </a:rPr>
              <a:t>Kemping</a:t>
            </a:r>
            <a:r>
              <a:rPr sz="3000" dirty="0">
                <a:solidFill>
                  <a:srgbClr val="374151"/>
                </a:solidFill>
                <a:latin typeface="Segoe UI"/>
              </a:rPr>
              <a:t> </a:t>
            </a:r>
            <a:r>
              <a:rPr sz="3000" dirty="0" err="1">
                <a:solidFill>
                  <a:srgbClr val="374151"/>
                </a:solidFill>
                <a:latin typeface="Segoe UI"/>
              </a:rPr>
              <a:t>Helyfoglaló</a:t>
            </a:r>
            <a:r>
              <a:rPr sz="3000" dirty="0">
                <a:solidFill>
                  <a:srgbClr val="374151"/>
                </a:solidFill>
                <a:latin typeface="Segoe UI"/>
              </a:rPr>
              <a:t> </a:t>
            </a:r>
            <a:r>
              <a:rPr sz="3000" dirty="0" err="1">
                <a:solidFill>
                  <a:srgbClr val="374151"/>
                </a:solidFill>
                <a:latin typeface="Segoe UI"/>
              </a:rPr>
              <a:t>és</a:t>
            </a:r>
            <a:r>
              <a:rPr sz="3000" dirty="0">
                <a:solidFill>
                  <a:srgbClr val="374151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516E37"/>
                </a:solidFill>
                <a:latin typeface="Segoe UI"/>
              </a:rPr>
              <a:t>Beléptető</a:t>
            </a:r>
            <a:r>
              <a:rPr sz="3000" b="1" dirty="0">
                <a:solidFill>
                  <a:srgbClr val="516E37"/>
                </a:solidFill>
                <a:latin typeface="Segoe UI"/>
              </a:rPr>
              <a:t> </a:t>
            </a:r>
            <a:r>
              <a:rPr sz="3000" b="1" dirty="0" err="1">
                <a:solidFill>
                  <a:srgbClr val="516E37"/>
                </a:solidFill>
                <a:latin typeface="Segoe UI"/>
              </a:rPr>
              <a:t>Rendszer</a:t>
            </a:r>
            <a:endParaRPr sz="3000" b="1" dirty="0">
              <a:solidFill>
                <a:srgbClr val="516E37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029200" y="3840480"/>
            <a:ext cx="1097280" cy="73152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516E37"/>
              </a:solidFill>
              <a:highlight>
                <a:srgbClr val="FFFF00"/>
              </a:highlight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126480" y="3840480"/>
            <a:ext cx="1097280" cy="73152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2286000" y="4389120"/>
            <a:ext cx="7589520" cy="1463040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3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286000" y="4480560"/>
            <a:ext cx="758952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9CA3AF"/>
                </a:solidFill>
                <a:latin typeface="Segoe UI"/>
              </a:defRPr>
            </a:pPr>
            <a:r>
              <a:rPr dirty="0"/>
              <a:t>KÉSZÍTETT</a:t>
            </a:r>
            <a:r>
              <a:rPr lang="hu-HU" dirty="0"/>
              <a:t>E</a:t>
            </a:r>
            <a:endParaRPr dirty="0"/>
          </a:p>
        </p:txBody>
      </p:sp>
      <p:sp>
        <p:nvSpPr>
          <p:cNvPr id="13" name="TextBox 12"/>
          <p:cNvSpPr txBox="1"/>
          <p:nvPr/>
        </p:nvSpPr>
        <p:spPr>
          <a:xfrm>
            <a:off x="2743200" y="5084177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Butty Máté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0591" y="5074920"/>
            <a:ext cx="181051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Csenki</a:t>
            </a:r>
            <a:r>
              <a:rPr lang="hu-HU" dirty="0"/>
              <a:t> </a:t>
            </a:r>
            <a:r>
              <a:rPr dirty="0"/>
              <a:t>Gergely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581747" y="5074920"/>
            <a:ext cx="15087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Dicső András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748272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063898" y="6748272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127796" y="6748272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01</a:t>
            </a:r>
          </a:p>
        </p:txBody>
      </p:sp>
      <p:pic>
        <p:nvPicPr>
          <p:cNvPr id="27" name="Ábra 26">
            <a:extLst>
              <a:ext uri="{FF2B5EF4-FFF2-40B4-BE49-F238E27FC236}">
                <a16:creationId xmlns:a16="http://schemas.microsoft.com/office/drawing/2014/main" id="{D9EBDDC0-FBB2-61BF-788F-2DC57A8165C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497580" y="854964"/>
            <a:ext cx="5563112" cy="23682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BEVEZETÉS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111827"/>
                </a:solidFill>
                <a:latin typeface="Segoe UI Semibold"/>
              </a:rPr>
              <a:t>Probléma </a:t>
            </a:r>
            <a:r>
              <a:rPr sz="3400" b="1">
                <a:solidFill>
                  <a:srgbClr val="D1D5DB"/>
                </a:solidFill>
                <a:latin typeface="Segoe UI Semibold"/>
              </a:rPr>
              <a:t>&amp; Megoldás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212080" cy="47548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FEE2E2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640080" cy="640080"/>
          </a:xfrm>
          <a:prstGeom prst="roundRect">
            <a:avLst>
              <a:gd name="adj" fmla="val 34285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05840" y="1737359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EF4444"/>
                </a:solidFill>
                <a:latin typeface="Segoe UI"/>
              </a:defRPr>
            </a:pPr>
            <a:r>
              <a:rPr dirty="0"/>
              <a:t>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774698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Segoe UI Semibold"/>
              </a:defRPr>
            </a:pPr>
            <a:r>
              <a:rPr dirty="0"/>
              <a:t>A </a:t>
            </a:r>
            <a:r>
              <a:rPr dirty="0" err="1"/>
              <a:t>Probléma</a:t>
            </a:r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1645920" y="2068327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F87171"/>
                </a:solidFill>
                <a:latin typeface="Segoe UI"/>
              </a:defRPr>
            </a:pPr>
            <a:r>
              <a:rPr dirty="0" err="1">
                <a:solidFill>
                  <a:srgbClr val="DF8534"/>
                </a:solidFill>
              </a:rPr>
              <a:t>Jelenlegi</a:t>
            </a:r>
            <a:r>
              <a:rPr dirty="0">
                <a:solidFill>
                  <a:srgbClr val="DF8534"/>
                </a:solidFill>
              </a:rPr>
              <a:t> </a:t>
            </a:r>
            <a:r>
              <a:rPr dirty="0" err="1">
                <a:solidFill>
                  <a:srgbClr val="DF8534"/>
                </a:solidFill>
              </a:rPr>
              <a:t>piaci</a:t>
            </a:r>
            <a:r>
              <a:rPr dirty="0">
                <a:solidFill>
                  <a:srgbClr val="DF8534"/>
                </a:solidFill>
              </a:rPr>
              <a:t> </a:t>
            </a:r>
            <a:r>
              <a:rPr dirty="0" err="1">
                <a:solidFill>
                  <a:srgbClr val="DF8534"/>
                </a:solidFill>
              </a:rPr>
              <a:t>hiányosságok</a:t>
            </a:r>
            <a:endParaRPr dirty="0">
              <a:solidFill>
                <a:srgbClr val="DF8534"/>
              </a:solidFill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1097280" y="256032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EEC096"/>
          </a:solidFill>
          <a:ln w="9525">
            <a:solidFill>
              <a:srgbClr val="EE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06170" y="2679965"/>
            <a:ext cx="71374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Segoe UI"/>
              </a:defRPr>
            </a:pPr>
            <a:r>
              <a:rPr sz="4000" dirty="0"/>
              <a:t>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334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Hiányzó</a:t>
            </a:r>
            <a:r>
              <a:rPr dirty="0"/>
              <a:t> </a:t>
            </a:r>
            <a:r>
              <a:rPr dirty="0" err="1"/>
              <a:t>egységesség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1737360" y="29260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Nincs</a:t>
            </a:r>
            <a:r>
              <a:rPr dirty="0"/>
              <a:t> </a:t>
            </a:r>
            <a:r>
              <a:rPr dirty="0" err="1"/>
              <a:t>egységes</a:t>
            </a:r>
            <a:r>
              <a:rPr dirty="0"/>
              <a:t> </a:t>
            </a:r>
            <a:r>
              <a:rPr dirty="0" err="1"/>
              <a:t>kempingfoglaló</a:t>
            </a:r>
            <a:r>
              <a:rPr dirty="0"/>
              <a:t> platform, a </a:t>
            </a:r>
            <a:r>
              <a:rPr dirty="0" err="1"/>
              <a:t>piac</a:t>
            </a:r>
            <a:r>
              <a:rPr dirty="0"/>
              <a:t> </a:t>
            </a:r>
            <a:r>
              <a:rPr dirty="0" err="1"/>
              <a:t>töredezett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átláthatatlan</a:t>
            </a:r>
            <a:r>
              <a:rPr dirty="0"/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3749039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EEC096"/>
          </a:solidFill>
          <a:ln w="9525">
            <a:solidFill>
              <a:srgbClr val="EE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280160" y="3840479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Segoe UI"/>
              </a:defRPr>
            </a:pPr>
            <a:r>
              <a:rPr sz="4000"/>
              <a:t>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22191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Bonyolult</a:t>
            </a:r>
            <a:r>
              <a:rPr dirty="0"/>
              <a:t> </a:t>
            </a:r>
            <a:r>
              <a:rPr dirty="0" err="1"/>
              <a:t>folyamatok</a:t>
            </a:r>
            <a:endParaRPr dirty="0"/>
          </a:p>
        </p:txBody>
      </p:sp>
      <p:sp>
        <p:nvSpPr>
          <p:cNvPr id="18" name="TextBox 17"/>
          <p:cNvSpPr txBox="1"/>
          <p:nvPr/>
        </p:nvSpPr>
        <p:spPr>
          <a:xfrm>
            <a:off x="1737360" y="4114799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Eltérő</a:t>
            </a:r>
            <a:r>
              <a:rPr dirty="0"/>
              <a:t>, </a:t>
            </a:r>
            <a:r>
              <a:rPr dirty="0" err="1"/>
              <a:t>sokszor</a:t>
            </a:r>
            <a:r>
              <a:rPr dirty="0"/>
              <a:t> </a:t>
            </a:r>
            <a:r>
              <a:rPr dirty="0" err="1"/>
              <a:t>papíralapú</a:t>
            </a:r>
            <a:r>
              <a:rPr dirty="0"/>
              <a:t> </a:t>
            </a:r>
            <a:r>
              <a:rPr dirty="0" err="1"/>
              <a:t>vagy</a:t>
            </a:r>
            <a:r>
              <a:rPr dirty="0"/>
              <a:t> </a:t>
            </a:r>
            <a:r>
              <a:rPr dirty="0" err="1"/>
              <a:t>elavult</a:t>
            </a:r>
            <a:r>
              <a:rPr dirty="0"/>
              <a:t> </a:t>
            </a:r>
            <a:r>
              <a:rPr dirty="0" err="1"/>
              <a:t>foglalási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adminisztrációs</a:t>
            </a:r>
            <a:r>
              <a:rPr dirty="0"/>
              <a:t> </a:t>
            </a:r>
            <a:r>
              <a:rPr dirty="0" err="1"/>
              <a:t>rendszerek</a:t>
            </a:r>
            <a:r>
              <a:rPr dirty="0"/>
              <a:t>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93776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EEC096"/>
          </a:solidFill>
          <a:ln w="9525">
            <a:solidFill>
              <a:srgbClr val="EEC0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280160" y="5029200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EF4444"/>
                </a:solidFill>
                <a:latin typeface="Segoe UI"/>
              </a:defRPr>
            </a:pPr>
            <a:r>
              <a:rPr sz="4000"/>
              <a:t>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01091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Manuális</a:t>
            </a:r>
            <a:r>
              <a:rPr dirty="0"/>
              <a:t> </a:t>
            </a:r>
            <a:r>
              <a:rPr dirty="0" err="1"/>
              <a:t>beléptetés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737360" y="530352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Helyszíni</a:t>
            </a:r>
            <a:r>
              <a:rPr dirty="0"/>
              <a:t> </a:t>
            </a:r>
            <a:r>
              <a:rPr dirty="0" err="1"/>
              <a:t>sorban</a:t>
            </a:r>
            <a:r>
              <a:rPr dirty="0"/>
              <a:t> </a:t>
            </a:r>
            <a:r>
              <a:rPr dirty="0" err="1"/>
              <a:t>állás</a:t>
            </a:r>
            <a:r>
              <a:rPr dirty="0"/>
              <a:t>, </a:t>
            </a:r>
            <a:r>
              <a:rPr dirty="0" err="1"/>
              <a:t>emberi</a:t>
            </a:r>
            <a:r>
              <a:rPr dirty="0"/>
              <a:t> </a:t>
            </a:r>
            <a:r>
              <a:rPr dirty="0" err="1"/>
              <a:t>erőforrás</a:t>
            </a:r>
            <a:r>
              <a:rPr dirty="0"/>
              <a:t> </a:t>
            </a:r>
            <a:r>
              <a:rPr dirty="0" err="1"/>
              <a:t>igényes</a:t>
            </a:r>
            <a:r>
              <a:rPr dirty="0"/>
              <a:t> </a:t>
            </a:r>
            <a:r>
              <a:rPr dirty="0" err="1"/>
              <a:t>ellenőrzés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magas</a:t>
            </a:r>
            <a:r>
              <a:rPr dirty="0"/>
              <a:t> </a:t>
            </a:r>
            <a:r>
              <a:rPr dirty="0" err="1"/>
              <a:t>hibalehetőség</a:t>
            </a:r>
            <a:r>
              <a:rPr dirty="0"/>
              <a:t>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1554480"/>
            <a:ext cx="5212080" cy="475488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9525">
            <a:solidFill>
              <a:srgbClr val="D1FAE5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hu-HU"/>
              <a:t>🌐</a:t>
            </a:r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492240" y="1737360"/>
            <a:ext cx="640080" cy="640080"/>
          </a:xfrm>
          <a:prstGeom prst="roundRect">
            <a:avLst>
              <a:gd name="adj" fmla="val 34285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92240" y="1748287"/>
            <a:ext cx="6400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rPr dirty="0"/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1761111"/>
            <a:ext cx="2743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>
                <a:solidFill>
                  <a:srgbClr val="1F2937"/>
                </a:solidFill>
                <a:latin typeface="Segoe UI Semibold"/>
              </a:defRPr>
            </a:pPr>
            <a:r>
              <a:rPr dirty="0"/>
              <a:t>A </a:t>
            </a:r>
            <a:r>
              <a:rPr dirty="0" err="1"/>
              <a:t>Megoldás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7132320" y="2081151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Segoe UI"/>
              </a:defRPr>
            </a:pPr>
            <a:r>
              <a:rPr dirty="0" err="1">
                <a:solidFill>
                  <a:srgbClr val="516E37"/>
                </a:solidFill>
              </a:rPr>
              <a:t>CampSite</a:t>
            </a:r>
            <a:r>
              <a:rPr dirty="0">
                <a:solidFill>
                  <a:srgbClr val="516E37"/>
                </a:solidFill>
              </a:rPr>
              <a:t> Platform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0" y="256032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BFD5AB"/>
          </a:solidFill>
          <a:ln w="9525">
            <a:solidFill>
              <a:srgbClr val="BFD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766560" y="2651760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Segoe UI"/>
              </a:defRPr>
            </a:pPr>
            <a:r>
              <a:rPr lang="hu-HU" sz="4000" dirty="0"/>
              <a:t>🌐</a:t>
            </a:r>
            <a:endParaRPr sz="4000" dirty="0"/>
          </a:p>
        </p:txBody>
      </p:sp>
      <p:sp>
        <p:nvSpPr>
          <p:cNvPr id="30" name="TextBox 29"/>
          <p:cNvSpPr txBox="1"/>
          <p:nvPr/>
        </p:nvSpPr>
        <p:spPr>
          <a:xfrm>
            <a:off x="7223760" y="2633472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Egységes</a:t>
            </a:r>
            <a:r>
              <a:rPr dirty="0"/>
              <a:t> platform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292608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Modern, </a:t>
            </a:r>
            <a:r>
              <a:rPr dirty="0" err="1"/>
              <a:t>felhasználóbarát</a:t>
            </a:r>
            <a:r>
              <a:rPr dirty="0"/>
              <a:t> </a:t>
            </a:r>
            <a:r>
              <a:rPr dirty="0" err="1"/>
              <a:t>felület</a:t>
            </a:r>
            <a:r>
              <a:rPr dirty="0"/>
              <a:t>, </a:t>
            </a:r>
            <a:r>
              <a:rPr dirty="0" err="1"/>
              <a:t>ahol</a:t>
            </a:r>
            <a:r>
              <a:rPr dirty="0"/>
              <a:t> </a:t>
            </a:r>
            <a:r>
              <a:rPr dirty="0" err="1"/>
              <a:t>minden</a:t>
            </a:r>
            <a:r>
              <a:rPr dirty="0"/>
              <a:t> </a:t>
            </a:r>
            <a:r>
              <a:rPr dirty="0" err="1"/>
              <a:t>kemping</a:t>
            </a:r>
            <a:r>
              <a:rPr dirty="0"/>
              <a:t> </a:t>
            </a:r>
            <a:r>
              <a:rPr dirty="0" err="1"/>
              <a:t>egy</a:t>
            </a:r>
            <a:r>
              <a:rPr dirty="0"/>
              <a:t> </a:t>
            </a:r>
            <a:r>
              <a:rPr dirty="0" err="1"/>
              <a:t>helyen</a:t>
            </a:r>
            <a:r>
              <a:rPr dirty="0"/>
              <a:t> </a:t>
            </a:r>
            <a:r>
              <a:rPr dirty="0" err="1"/>
              <a:t>elérhető</a:t>
            </a:r>
            <a:r>
              <a:rPr dirty="0"/>
              <a:t>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749039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BFD5AB"/>
          </a:solidFill>
          <a:ln w="9525">
            <a:solidFill>
              <a:srgbClr val="BFD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223760" y="3822191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IoT </a:t>
            </a:r>
            <a:r>
              <a:rPr dirty="0" err="1"/>
              <a:t>Beléptetés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7223760" y="4114799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sorompó</a:t>
            </a:r>
            <a:r>
              <a:rPr dirty="0"/>
              <a:t> </a:t>
            </a:r>
            <a:r>
              <a:rPr dirty="0" err="1"/>
              <a:t>nyitás</a:t>
            </a:r>
            <a:r>
              <a:rPr dirty="0"/>
              <a:t> QR-</a:t>
            </a:r>
            <a:r>
              <a:rPr dirty="0" err="1"/>
              <a:t>kód</a:t>
            </a:r>
            <a:r>
              <a:rPr dirty="0"/>
              <a:t> 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azonosítással</a:t>
            </a:r>
            <a:r>
              <a:rPr dirty="0"/>
              <a:t>, </a:t>
            </a:r>
            <a:r>
              <a:rPr dirty="0" err="1"/>
              <a:t>emberi</a:t>
            </a:r>
            <a:r>
              <a:rPr dirty="0"/>
              <a:t> </a:t>
            </a:r>
            <a:r>
              <a:rPr dirty="0" err="1"/>
              <a:t>beavatkozás</a:t>
            </a:r>
            <a:r>
              <a:rPr dirty="0"/>
              <a:t> </a:t>
            </a:r>
            <a:r>
              <a:rPr dirty="0" err="1"/>
              <a:t>nélkül</a:t>
            </a:r>
            <a:r>
              <a:rPr dirty="0"/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583680" y="4937760"/>
            <a:ext cx="4572000" cy="1005840"/>
          </a:xfrm>
          <a:prstGeom prst="roundRect">
            <a:avLst>
              <a:gd name="adj" fmla="val 21818"/>
            </a:avLst>
          </a:prstGeom>
          <a:solidFill>
            <a:srgbClr val="BFD5AB"/>
          </a:solidFill>
          <a:ln w="9525">
            <a:solidFill>
              <a:srgbClr val="BFD5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766560" y="5029200"/>
            <a:ext cx="365760" cy="707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Segoe UI"/>
              </a:defRPr>
            </a:pPr>
            <a:r>
              <a:rPr lang="hu-HU" sz="4000" dirty="0"/>
              <a:t>🔍</a:t>
            </a:r>
            <a:endParaRPr sz="4000" dirty="0"/>
          </a:p>
        </p:txBody>
      </p:sp>
      <p:sp>
        <p:nvSpPr>
          <p:cNvPr id="38" name="TextBox 37"/>
          <p:cNvSpPr txBox="1"/>
          <p:nvPr/>
        </p:nvSpPr>
        <p:spPr>
          <a:xfrm>
            <a:off x="7223760" y="5010912"/>
            <a:ext cx="36576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"/>
              </a:defRPr>
            </a:pPr>
            <a:r>
              <a:rPr dirty="0"/>
              <a:t>Okos </a:t>
            </a:r>
            <a:r>
              <a:rPr dirty="0" err="1"/>
              <a:t>Szűrés</a:t>
            </a:r>
            <a:endParaRPr dirty="0"/>
          </a:p>
        </p:txBody>
      </p:sp>
      <p:sp>
        <p:nvSpPr>
          <p:cNvPr id="39" name="TextBox 38"/>
          <p:cNvSpPr txBox="1"/>
          <p:nvPr/>
        </p:nvSpPr>
        <p:spPr>
          <a:xfrm>
            <a:off x="7223760" y="5303520"/>
            <a:ext cx="3749039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 err="1"/>
              <a:t>Valós</a:t>
            </a:r>
            <a:r>
              <a:rPr dirty="0"/>
              <a:t> </a:t>
            </a:r>
            <a:r>
              <a:rPr dirty="0" err="1"/>
              <a:t>idejű</a:t>
            </a:r>
            <a:r>
              <a:rPr dirty="0"/>
              <a:t> </a:t>
            </a:r>
            <a:r>
              <a:rPr dirty="0" err="1"/>
              <a:t>foglaltság</a:t>
            </a:r>
            <a:r>
              <a:rPr dirty="0"/>
              <a:t>, </a:t>
            </a:r>
            <a:r>
              <a:rPr dirty="0" err="1"/>
              <a:t>részletes</a:t>
            </a:r>
            <a:r>
              <a:rPr dirty="0"/>
              <a:t> </a:t>
            </a:r>
            <a:r>
              <a:rPr dirty="0" err="1"/>
              <a:t>szűrők</a:t>
            </a:r>
            <a:r>
              <a:rPr dirty="0"/>
              <a:t> a </a:t>
            </a:r>
            <a:r>
              <a:rPr dirty="0" err="1"/>
              <a:t>tökéletes</a:t>
            </a:r>
            <a:r>
              <a:rPr dirty="0"/>
              <a:t> </a:t>
            </a:r>
            <a:r>
              <a:rPr dirty="0" err="1"/>
              <a:t>hely</a:t>
            </a:r>
            <a:r>
              <a:rPr dirty="0"/>
              <a:t> </a:t>
            </a:r>
            <a:r>
              <a:rPr dirty="0" err="1"/>
              <a:t>megtalálásához</a:t>
            </a:r>
            <a:r>
              <a:rPr dirty="0"/>
              <a:t>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9" name="Rectangle 19">
            <a:extLst>
              <a:ext uri="{FF2B5EF4-FFF2-40B4-BE49-F238E27FC236}">
                <a16:creationId xmlns:a16="http://schemas.microsoft.com/office/drawing/2014/main" id="{3669ED80-3ED2-B325-AC34-6A056F8606DE}"/>
              </a:ext>
            </a:extLst>
          </p:cNvPr>
          <p:cNvSpPr/>
          <p:nvPr/>
        </p:nvSpPr>
        <p:spPr>
          <a:xfrm>
            <a:off x="0" y="6748272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0">
            <a:extLst>
              <a:ext uri="{FF2B5EF4-FFF2-40B4-BE49-F238E27FC236}">
                <a16:creationId xmlns:a16="http://schemas.microsoft.com/office/drawing/2014/main" id="{AA0B594C-3F0F-1EDF-3914-17858C5C2E74}"/>
              </a:ext>
            </a:extLst>
          </p:cNvPr>
          <p:cNvSpPr/>
          <p:nvPr/>
        </p:nvSpPr>
        <p:spPr>
          <a:xfrm>
            <a:off x="4063898" y="6748272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21">
            <a:extLst>
              <a:ext uri="{FF2B5EF4-FFF2-40B4-BE49-F238E27FC236}">
                <a16:creationId xmlns:a16="http://schemas.microsoft.com/office/drawing/2014/main" id="{6779A5DB-68AF-7F42-3AB0-D282FD84EA4E}"/>
              </a:ext>
            </a:extLst>
          </p:cNvPr>
          <p:cNvSpPr/>
          <p:nvPr/>
        </p:nvSpPr>
        <p:spPr>
          <a:xfrm>
            <a:off x="8127796" y="6748272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3" name="Ábra 52">
            <a:extLst>
              <a:ext uri="{FF2B5EF4-FFF2-40B4-BE49-F238E27FC236}">
                <a16:creationId xmlns:a16="http://schemas.microsoft.com/office/drawing/2014/main" id="{12F3A878-E0C2-D0CD-6AD4-0BF5C52E09C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6540" y="3862565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ARCHITEKTÚRA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Fő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3400" b="1" dirty="0" err="1">
                <a:solidFill>
                  <a:srgbClr val="DF8534"/>
                </a:solidFill>
                <a:latin typeface="Segoe UI Semibold"/>
              </a:rPr>
              <a:t>Funkciók</a:t>
            </a:r>
            <a:endParaRPr sz="3400" b="1" dirty="0">
              <a:solidFill>
                <a:srgbClr val="DF8534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755648"/>
            <a:ext cx="548640" cy="548640"/>
          </a:xfrm>
          <a:prstGeom prst="rect">
            <a:avLst/>
          </a:prstGeom>
          <a:noFill/>
          <a:effectLst>
            <a:softEdge rad="0"/>
          </a:effectLst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t>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6916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83080" y="16916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Regisztráció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2057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Biztonságos</a:t>
            </a:r>
            <a:r>
              <a:rPr dirty="0"/>
              <a:t> </a:t>
            </a:r>
            <a:r>
              <a:rPr dirty="0" err="1"/>
              <a:t>fiókkezelés</a:t>
            </a:r>
            <a:r>
              <a:rPr dirty="0"/>
              <a:t>, JWT </a:t>
            </a:r>
            <a:r>
              <a:rPr dirty="0" err="1"/>
              <a:t>alapú</a:t>
            </a:r>
            <a:r>
              <a:rPr dirty="0"/>
              <a:t> </a:t>
            </a:r>
            <a:r>
              <a:rPr dirty="0" err="1"/>
              <a:t>hitelesítés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jelszóhash</a:t>
            </a:r>
            <a:r>
              <a:rPr dirty="0"/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526280" y="173736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17556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t>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6916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6916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Kemping Kezelés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057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Tulajdonosi adminisztráció, adatok és nyitvatartás kezelése.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46720" y="155448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8183880" y="173736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83880" y="175564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Segoe UI"/>
              </a:defRPr>
            </a:pPr>
            <a:r>
              <a:t>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0" y="169164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8280" y="169164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Spot Menedzsment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05740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Kempinghelyek (spotok) létrehozása, szerkesztése és törlése.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4612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868680" y="34290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868680" y="344728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Segoe UI"/>
              </a:defRPr>
            </a:pPr>
            <a:r>
              <a:t>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3832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83080" y="33832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Keresés &amp; Szűrés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37490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Részletes keresés ár, szolgáltatás és elérhetőség alapján.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389120" y="324612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4526280" y="34290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80" y="344728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F4444"/>
                </a:solidFill>
                <a:latin typeface="Segoe UI"/>
              </a:defRPr>
            </a:pPr>
            <a:r>
              <a:t>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12080" y="33832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40680" y="33832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Foglalási Rendszer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12080" y="37490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Valós idejű foglaláskezelés, visszaigazolás és státuszok.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324612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183880" y="34290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83880" y="344728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AB308"/>
                </a:solidFill>
                <a:latin typeface="Segoe UI"/>
              </a:defRPr>
            </a:pPr>
            <a:r>
              <a:t>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69680" y="338328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98280" y="338328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Értékelések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374904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Közösségi visszajelzések, csillagos értékelés és szöveges vélemény.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493776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868680" y="512064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1554480" y="50749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783080" y="5074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QR Beléptetés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554480" y="5440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/>
              <a:t>IoT </a:t>
            </a:r>
            <a:r>
              <a:rPr dirty="0" err="1"/>
              <a:t>hardver</a:t>
            </a:r>
            <a:r>
              <a:rPr dirty="0"/>
              <a:t> </a:t>
            </a:r>
            <a:r>
              <a:rPr dirty="0" err="1"/>
              <a:t>integráció</a:t>
            </a:r>
            <a:r>
              <a:rPr dirty="0"/>
              <a:t>, </a:t>
            </a: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kapunyitás</a:t>
            </a:r>
            <a:r>
              <a:rPr dirty="0"/>
              <a:t> QR </a:t>
            </a:r>
            <a:r>
              <a:rPr dirty="0" err="1"/>
              <a:t>kóddal</a:t>
            </a:r>
            <a:r>
              <a:rPr dirty="0"/>
              <a:t>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493776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ounded Rectangle 48"/>
          <p:cNvSpPr/>
          <p:nvPr/>
        </p:nvSpPr>
        <p:spPr>
          <a:xfrm>
            <a:off x="4526280" y="512064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26280" y="509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366F1"/>
                </a:solidFill>
                <a:latin typeface="Segoe UI"/>
              </a:defRPr>
            </a:pPr>
            <a:r>
              <a:rPr dirty="0"/>
              <a:t>📊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80" y="50749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440680" y="5074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Dashboard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212080" y="5440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Részletes statisztikák és kimutatások a tulajdonosok számára.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046720" y="4937760"/>
            <a:ext cx="3383280" cy="1417320"/>
          </a:xfrm>
          <a:prstGeom prst="roundRect">
            <a:avLst>
              <a:gd name="adj" fmla="val 15483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ounded Rectangle 54"/>
          <p:cNvSpPr/>
          <p:nvPr/>
        </p:nvSpPr>
        <p:spPr>
          <a:xfrm>
            <a:off x="8183880" y="512064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DF2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83880" y="509016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EC4899"/>
                </a:solidFill>
                <a:latin typeface="Segoe UI"/>
              </a:defRPr>
            </a:pPr>
            <a:r>
              <a:rPr dirty="0"/>
              <a:t>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869680" y="5074920"/>
            <a:ext cx="274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1D5DB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5074920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Interaktív Térkép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69680" y="5440680"/>
            <a:ext cx="23774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GeoJSON alapú térkép megjelenítés Leaflet.js segítségével.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03</a:t>
            </a:r>
          </a:p>
        </p:txBody>
      </p:sp>
      <p:grpSp>
        <p:nvGrpSpPr>
          <p:cNvPr id="66" name="Csoportba foglalás 65">
            <a:extLst>
              <a:ext uri="{FF2B5EF4-FFF2-40B4-BE49-F238E27FC236}">
                <a16:creationId xmlns:a16="http://schemas.microsoft.com/office/drawing/2014/main" id="{393BFA79-4929-1EE2-057C-BC225931688C}"/>
              </a:ext>
            </a:extLst>
          </p:cNvPr>
          <p:cNvGrpSpPr/>
          <p:nvPr/>
        </p:nvGrpSpPr>
        <p:grpSpPr>
          <a:xfrm>
            <a:off x="0" y="6748272"/>
            <a:ext cx="12191695" cy="109728"/>
            <a:chOff x="0" y="6748272"/>
            <a:chExt cx="12191695" cy="109728"/>
          </a:xfrm>
        </p:grpSpPr>
        <p:sp>
          <p:nvSpPr>
            <p:cNvPr id="62" name="Rectangle 19">
              <a:extLst>
                <a:ext uri="{FF2B5EF4-FFF2-40B4-BE49-F238E27FC236}">
                  <a16:creationId xmlns:a16="http://schemas.microsoft.com/office/drawing/2014/main" id="{4135AED0-B86F-0003-5ED0-93A951D5EED5}"/>
                </a:ext>
              </a:extLst>
            </p:cNvPr>
            <p:cNvSpPr/>
            <p:nvPr/>
          </p:nvSpPr>
          <p:spPr>
            <a:xfrm>
              <a:off x="0" y="6748272"/>
              <a:ext cx="4063898" cy="109728"/>
            </a:xfrm>
            <a:prstGeom prst="rect">
              <a:avLst/>
            </a:prstGeom>
            <a:solidFill>
              <a:srgbClr val="DF85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3" name="Rectangle 20">
              <a:extLst>
                <a:ext uri="{FF2B5EF4-FFF2-40B4-BE49-F238E27FC236}">
                  <a16:creationId xmlns:a16="http://schemas.microsoft.com/office/drawing/2014/main" id="{0FFCF784-FBB5-5D0C-F28B-DF1638208066}"/>
                </a:ext>
              </a:extLst>
            </p:cNvPr>
            <p:cNvSpPr/>
            <p:nvPr/>
          </p:nvSpPr>
          <p:spPr>
            <a:xfrm>
              <a:off x="4063898" y="6748272"/>
              <a:ext cx="4063898" cy="109728"/>
            </a:xfrm>
            <a:prstGeom prst="rect">
              <a:avLst/>
            </a:prstGeom>
            <a:solidFill>
              <a:srgbClr val="516E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Rectangle 21">
              <a:extLst>
                <a:ext uri="{FF2B5EF4-FFF2-40B4-BE49-F238E27FC236}">
                  <a16:creationId xmlns:a16="http://schemas.microsoft.com/office/drawing/2014/main" id="{227685AD-6512-3F6F-5757-E95782DB7185}"/>
                </a:ext>
              </a:extLst>
            </p:cNvPr>
            <p:cNvSpPr/>
            <p:nvPr/>
          </p:nvSpPr>
          <p:spPr>
            <a:xfrm>
              <a:off x="8127796" y="6748272"/>
              <a:ext cx="4063899" cy="109728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65" name="Ábra 64">
            <a:extLst>
              <a:ext uri="{FF2B5EF4-FFF2-40B4-BE49-F238E27FC236}">
                <a16:creationId xmlns:a16="http://schemas.microsoft.com/office/drawing/2014/main" id="{80662CAA-80F5-849F-F7D9-CF5877AADE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4880" y="518922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FEJLESZTÉS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Technológiai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3400" b="1" dirty="0">
                <a:solidFill>
                  <a:srgbClr val="516E37"/>
                </a:solidFill>
                <a:latin typeface="Segoe UI Semibold"/>
              </a:rPr>
              <a:t>Stack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94360" y="1554480"/>
            <a:ext cx="2606040" cy="54864"/>
          </a:xfrm>
          <a:prstGeom prst="rect">
            <a:avLst/>
          </a:prstGeom>
          <a:solidFill>
            <a:srgbClr val="516E37"/>
          </a:solidFill>
          <a:ln>
            <a:noFill/>
          </a:ln>
          <a:effectLst>
            <a:outerShdw blurRad="40000" dist="23000" dir="5400000" rotWithShape="0">
              <a:srgbClr val="516E37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31520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184151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rPr sz="2800" dirty="0">
                <a:solidFill>
                  <a:srgbClr val="516E37"/>
                </a:solidFill>
              </a:rPr>
              <a:t>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t>Frontend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7320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KLIENS OLDAL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22960" y="274071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Vue.js 3 + Vite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2960" y="3281172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Vue Router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" y="3844681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Leaflet Maps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85800" y="429767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15340" y="4377112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Tailwind CSS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3474720" y="1554480"/>
            <a:ext cx="2606040" cy="54864"/>
          </a:xfrm>
          <a:prstGeom prst="rect">
            <a:avLst/>
          </a:prstGeom>
          <a:solidFill>
            <a:srgbClr val="DF8534"/>
          </a:solidFill>
          <a:ln>
            <a:noFill/>
          </a:ln>
          <a:effectLst>
            <a:outerShdw blurRad="40000" dist="23000" dir="5400000" rotWithShape="0">
              <a:srgbClr val="DF8534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3611880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80" y="185422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rPr sz="2800" dirty="0">
                <a:solidFill>
                  <a:srgbClr val="DF8534"/>
                </a:solidFill>
              </a:rPr>
              <a:t>⚙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97680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SZERVER OLDAL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566160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703320" y="273253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 err="1"/>
              <a:t>Laravel</a:t>
            </a:r>
            <a:r>
              <a:rPr lang="hu-HU" sz="1200" b="1" dirty="0"/>
              <a:t> 12 (PHP 8.2)</a:t>
            </a:r>
            <a:endParaRPr dirty="0"/>
          </a:p>
        </p:txBody>
      </p:sp>
      <p:sp>
        <p:nvSpPr>
          <p:cNvPr id="28" name="Rounded Rectangle 27"/>
          <p:cNvSpPr/>
          <p:nvPr/>
        </p:nvSpPr>
        <p:spPr>
          <a:xfrm>
            <a:off x="3566160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703320" y="3281172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dirty="0"/>
              <a:t>Sanctum Auth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566160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31" name="TextBox 30"/>
          <p:cNvSpPr txBox="1"/>
          <p:nvPr/>
        </p:nvSpPr>
        <p:spPr>
          <a:xfrm>
            <a:off x="3703320" y="3829811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REST API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355079" y="1554480"/>
            <a:ext cx="260604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6492239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492239" y="182880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B82F6"/>
                </a:solidFill>
                <a:latin typeface="Segoe UI"/>
              </a:defRPr>
            </a:pPr>
            <a:r>
              <a:rPr sz="2800" dirty="0"/>
              <a:t>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78039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t>Adatbázis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78039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ADATTÁROLÁS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19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583679" y="274320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PostgreSQL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46519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6583679" y="3291840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Neon Cloud DB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446519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6583679" y="3840479"/>
            <a:ext cx="214884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Segoe UI"/>
              </a:defRPr>
            </a:pPr>
            <a:r>
              <a:t>Eloquent ORM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89719" y="1554480"/>
            <a:ext cx="2697480" cy="4572000"/>
          </a:xfrm>
          <a:prstGeom prst="roundRect">
            <a:avLst>
              <a:gd name="adj" fmla="val 81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9235439" y="1554480"/>
            <a:ext cx="2606040" cy="54864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9372599" y="1828800"/>
            <a:ext cx="548640" cy="548640"/>
          </a:xfrm>
          <a:prstGeom prst="roundRect">
            <a:avLst>
              <a:gd name="adj" fmla="val 4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9372599" y="1808500"/>
            <a:ext cx="548640" cy="5232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4B5563"/>
                </a:solidFill>
                <a:latin typeface="Segoe UI"/>
              </a:defRPr>
            </a:pPr>
            <a:r>
              <a:rPr sz="2800" dirty="0"/>
              <a:t>⚡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58399" y="1783080"/>
            <a:ext cx="1554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Hardver</a:t>
            </a:r>
            <a:endParaRPr dirty="0"/>
          </a:p>
        </p:txBody>
      </p:sp>
      <p:sp>
        <p:nvSpPr>
          <p:cNvPr id="49" name="TextBox 48"/>
          <p:cNvSpPr txBox="1"/>
          <p:nvPr/>
        </p:nvSpPr>
        <p:spPr>
          <a:xfrm>
            <a:off x="10058399" y="2103120"/>
            <a:ext cx="15544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9CA3AF"/>
                </a:solidFill>
                <a:latin typeface="Segoe UI"/>
              </a:defRPr>
            </a:pPr>
            <a:r>
              <a:t>IOT ESZKÖZÖK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326879" y="265176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9464039" y="2732532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dirty="0"/>
              <a:t>ESP32-S3 WROOM</a:t>
            </a:r>
            <a:endParaRPr dirty="0"/>
          </a:p>
        </p:txBody>
      </p:sp>
      <p:sp>
        <p:nvSpPr>
          <p:cNvPr id="52" name="Rounded Rectangle 51"/>
          <p:cNvSpPr/>
          <p:nvPr/>
        </p:nvSpPr>
        <p:spPr>
          <a:xfrm>
            <a:off x="9326879" y="3200400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9464038" y="3281172"/>
            <a:ext cx="2179321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/>
              <a:t>OV2640 Kamera</a:t>
            </a:r>
            <a:r>
              <a:rPr lang="hu-HU" sz="1200" dirty="0"/>
              <a:t> </a:t>
            </a:r>
            <a:endParaRPr dirty="0"/>
          </a:p>
        </p:txBody>
      </p:sp>
      <p:sp>
        <p:nvSpPr>
          <p:cNvPr id="54" name="Rounded Rectangle 53"/>
          <p:cNvSpPr/>
          <p:nvPr/>
        </p:nvSpPr>
        <p:spPr>
          <a:xfrm>
            <a:off x="9326879" y="374903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9464039" y="3829811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/>
              <a:t>WiFi (HTTP)</a:t>
            </a:r>
            <a:endParaRPr dirty="0"/>
          </a:p>
        </p:txBody>
      </p:sp>
      <p:sp>
        <p:nvSpPr>
          <p:cNvPr id="59" name="TextBox 58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60" name="Rectangle 19">
            <a:extLst>
              <a:ext uri="{FF2B5EF4-FFF2-40B4-BE49-F238E27FC236}">
                <a16:creationId xmlns:a16="http://schemas.microsoft.com/office/drawing/2014/main" id="{D7725FE5-0D1C-A50B-0955-BE99FD8F0E3A}"/>
              </a:ext>
            </a:extLst>
          </p:cNvPr>
          <p:cNvSpPr/>
          <p:nvPr/>
        </p:nvSpPr>
        <p:spPr>
          <a:xfrm>
            <a:off x="0" y="6748272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20">
            <a:extLst>
              <a:ext uri="{FF2B5EF4-FFF2-40B4-BE49-F238E27FC236}">
                <a16:creationId xmlns:a16="http://schemas.microsoft.com/office/drawing/2014/main" id="{3935A0A5-D510-25B2-26A7-703B3772F7EC}"/>
              </a:ext>
            </a:extLst>
          </p:cNvPr>
          <p:cNvSpPr/>
          <p:nvPr/>
        </p:nvSpPr>
        <p:spPr>
          <a:xfrm>
            <a:off x="4063898" y="6748272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21">
            <a:extLst>
              <a:ext uri="{FF2B5EF4-FFF2-40B4-BE49-F238E27FC236}">
                <a16:creationId xmlns:a16="http://schemas.microsoft.com/office/drawing/2014/main" id="{CE798881-D39F-F347-5B71-DB6104D9A77E}"/>
              </a:ext>
            </a:extLst>
          </p:cNvPr>
          <p:cNvSpPr/>
          <p:nvPr/>
        </p:nvSpPr>
        <p:spPr>
          <a:xfrm>
            <a:off x="8127796" y="6748272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ounded Rectangle 17">
            <a:extLst>
              <a:ext uri="{FF2B5EF4-FFF2-40B4-BE49-F238E27FC236}">
                <a16:creationId xmlns:a16="http://schemas.microsoft.com/office/drawing/2014/main" id="{ED902C47-7BC9-D752-3628-71D94C35D6FD}"/>
              </a:ext>
            </a:extLst>
          </p:cNvPr>
          <p:cNvSpPr/>
          <p:nvPr/>
        </p:nvSpPr>
        <p:spPr>
          <a:xfrm>
            <a:off x="685800" y="4848809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4" name="TextBox 18">
            <a:extLst>
              <a:ext uri="{FF2B5EF4-FFF2-40B4-BE49-F238E27FC236}">
                <a16:creationId xmlns:a16="http://schemas.microsoft.com/office/drawing/2014/main" id="{1B3151C7-3889-59CA-F3ED-B1216307D766}"/>
              </a:ext>
            </a:extLst>
          </p:cNvPr>
          <p:cNvSpPr txBox="1"/>
          <p:nvPr/>
        </p:nvSpPr>
        <p:spPr>
          <a:xfrm>
            <a:off x="815340" y="4936713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 err="1"/>
              <a:t>PrimeVue+C</a:t>
            </a:r>
            <a:r>
              <a:rPr lang="hu-HU" sz="1200" dirty="0" err="1"/>
              <a:t>arousel</a:t>
            </a:r>
            <a:endParaRPr lang="hu-HU" sz="1200" dirty="0"/>
          </a:p>
        </p:txBody>
      </p:sp>
      <p:sp>
        <p:nvSpPr>
          <p:cNvPr id="65" name="Rounded Rectangle 17">
            <a:extLst>
              <a:ext uri="{FF2B5EF4-FFF2-40B4-BE49-F238E27FC236}">
                <a16:creationId xmlns:a16="http://schemas.microsoft.com/office/drawing/2014/main" id="{15E91601-D9CE-04C8-048B-A18794EC06A8}"/>
              </a:ext>
            </a:extLst>
          </p:cNvPr>
          <p:cNvSpPr/>
          <p:nvPr/>
        </p:nvSpPr>
        <p:spPr>
          <a:xfrm>
            <a:off x="685800" y="5396482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endParaRPr/>
          </a:p>
        </p:txBody>
      </p:sp>
      <p:sp>
        <p:nvSpPr>
          <p:cNvPr id="66" name="TextBox 18">
            <a:extLst>
              <a:ext uri="{FF2B5EF4-FFF2-40B4-BE49-F238E27FC236}">
                <a16:creationId xmlns:a16="http://schemas.microsoft.com/office/drawing/2014/main" id="{79F07ECA-C342-00B3-8A14-CFBE1AF5EE66}"/>
              </a:ext>
            </a:extLst>
          </p:cNvPr>
          <p:cNvSpPr txBox="1"/>
          <p:nvPr/>
        </p:nvSpPr>
        <p:spPr>
          <a:xfrm>
            <a:off x="822960" y="5460117"/>
            <a:ext cx="2148840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sz="1200" b="1" dirty="0" err="1"/>
              <a:t>Axios</a:t>
            </a:r>
            <a:r>
              <a:rPr lang="hu-HU" sz="1200" dirty="0"/>
              <a:t> </a:t>
            </a:r>
            <a:endParaRPr dirty="0"/>
          </a:p>
        </p:txBody>
      </p:sp>
      <p:sp>
        <p:nvSpPr>
          <p:cNvPr id="67" name="Rounded Rectangle 29">
            <a:extLst>
              <a:ext uri="{FF2B5EF4-FFF2-40B4-BE49-F238E27FC236}">
                <a16:creationId xmlns:a16="http://schemas.microsoft.com/office/drawing/2014/main" id="{41DFA6A8-9C4A-E90A-87DB-40C8023840FB}"/>
              </a:ext>
            </a:extLst>
          </p:cNvPr>
          <p:cNvSpPr/>
          <p:nvPr/>
        </p:nvSpPr>
        <p:spPr>
          <a:xfrm>
            <a:off x="3566160" y="4294258"/>
            <a:ext cx="2423160" cy="438912"/>
          </a:xfrm>
          <a:prstGeom prst="roundRect">
            <a:avLst>
              <a:gd name="adj" fmla="val 50000"/>
            </a:avLst>
          </a:prstGeom>
          <a:solidFill>
            <a:srgbClr val="F9F9F9"/>
          </a:solidFill>
          <a:ln w="9525">
            <a:solidFill>
              <a:srgbClr val="E5E7EB"/>
            </a:solidFill>
          </a:ln>
          <a:effectLst>
            <a:outerShdw blurRad="40000" dist="23000" dir="5400000" rotWithShape="0">
              <a:schemeClr val="bg1">
                <a:lumMod val="75000"/>
                <a:alpha val="63000"/>
              </a:scheme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sp>
        <p:nvSpPr>
          <p:cNvPr id="68" name="TextBox 30">
            <a:extLst>
              <a:ext uri="{FF2B5EF4-FFF2-40B4-BE49-F238E27FC236}">
                <a16:creationId xmlns:a16="http://schemas.microsoft.com/office/drawing/2014/main" id="{3871B682-6DAA-B0AF-15A6-928527033010}"/>
              </a:ext>
            </a:extLst>
          </p:cNvPr>
          <p:cNvSpPr txBox="1"/>
          <p:nvPr/>
        </p:nvSpPr>
        <p:spPr>
          <a:xfrm>
            <a:off x="3703319" y="4375030"/>
            <a:ext cx="2499363" cy="2769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1">
                <a:solidFill>
                  <a:srgbClr val="374151"/>
                </a:solidFill>
                <a:latin typeface="Segoe UI"/>
              </a:defRPr>
            </a:pPr>
            <a:r>
              <a:rPr lang="hu-HU" dirty="0"/>
              <a:t>Node.js QR Dekóder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016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ARCHITEKTÚRA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Backend </a:t>
            </a:r>
            <a:r>
              <a:rPr sz="3400" b="1" dirty="0" err="1">
                <a:solidFill>
                  <a:srgbClr val="DF8534"/>
                </a:solidFill>
                <a:latin typeface="Segoe UI Semibold"/>
              </a:rPr>
              <a:t>Struktúra</a:t>
            </a:r>
            <a:endParaRPr sz="3400" b="1" dirty="0">
              <a:solidFill>
                <a:srgbClr val="DF8534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60020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9164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66420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sz="1500" b="1" dirty="0" err="1"/>
              <a:t>Laravel</a:t>
            </a:r>
            <a:r>
              <a:rPr lang="hu-HU" sz="1500" b="1" dirty="0"/>
              <a:t> 12 REST API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554480" y="193852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Robusztus keretrendszer, modern PHP 8.2 funkciók, API erőforrás útválasztás.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51460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560320"/>
            <a:ext cx="54864" cy="73152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65176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26243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Sanctum Autentikáció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9864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Biztonságos token alapú (SPA) hitelesítés, munkamenet kezelés és API tokenek.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47472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520440"/>
            <a:ext cx="54864" cy="7315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61188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358444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dirty="0"/>
              <a:t>Middleware </a:t>
            </a:r>
            <a:r>
              <a:rPr dirty="0" err="1"/>
              <a:t>Réteg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554480" y="385876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Jogosultságok</a:t>
            </a:r>
            <a:r>
              <a:rPr dirty="0"/>
              <a:t> </a:t>
            </a:r>
            <a:r>
              <a:rPr dirty="0" err="1"/>
              <a:t>ellenőrzése</a:t>
            </a:r>
            <a:r>
              <a:rPr dirty="0"/>
              <a:t>, </a:t>
            </a:r>
            <a:r>
              <a:rPr dirty="0" err="1"/>
              <a:t>kérések</a:t>
            </a:r>
            <a:r>
              <a:rPr dirty="0"/>
              <a:t> </a:t>
            </a:r>
            <a:r>
              <a:rPr dirty="0" err="1"/>
              <a:t>szűrése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globális</a:t>
            </a:r>
            <a:r>
              <a:rPr dirty="0"/>
              <a:t> CORS </a:t>
            </a:r>
            <a:r>
              <a:rPr dirty="0" err="1"/>
              <a:t>beállítások</a:t>
            </a:r>
            <a:r>
              <a:rPr dirty="0"/>
              <a:t>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43484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480560"/>
            <a:ext cx="54864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5720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14400" y="45994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5445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dirty="0" err="1"/>
              <a:t>Resource</a:t>
            </a:r>
            <a:r>
              <a:rPr lang="hu-HU" dirty="0"/>
              <a:t> </a:t>
            </a:r>
            <a:r>
              <a:rPr lang="hu-HU" dirty="0" err="1"/>
              <a:t>Controller</a:t>
            </a:r>
            <a:r>
              <a:rPr lang="hu-HU" dirty="0"/>
              <a:t> </a:t>
            </a:r>
            <a:r>
              <a:rPr lang="hu-HU" dirty="0" err="1"/>
              <a:t>Pattern</a:t>
            </a:r>
            <a:r>
              <a:rPr lang="hu-HU" dirty="0"/>
              <a:t>	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1554480" y="481888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CRUD műveletek egységes kezelése </a:t>
            </a:r>
            <a:r>
              <a:rPr lang="hu-HU" dirty="0" err="1"/>
              <a:t>apiResource</a:t>
            </a:r>
            <a:r>
              <a:rPr lang="hu-HU" dirty="0"/>
              <a:t> útválasztással és </a:t>
            </a:r>
            <a:r>
              <a:rPr lang="hu-HU" dirty="0" err="1"/>
              <a:t>FormRequest</a:t>
            </a:r>
            <a:r>
              <a:rPr lang="hu-HU" dirty="0"/>
              <a:t> validációval.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9496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440680"/>
            <a:ext cx="54864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53212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55595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Segoe UI"/>
              </a:defRPr>
            </a:pPr>
            <a:r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50468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Validáció</a:t>
            </a:r>
            <a:r>
              <a:rPr dirty="0"/>
              <a:t> &amp; </a:t>
            </a:r>
            <a:r>
              <a:rPr dirty="0" err="1"/>
              <a:t>Hibakezelés</a:t>
            </a: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1554480" y="577900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FormRequest</a:t>
            </a:r>
            <a:r>
              <a:rPr dirty="0"/>
              <a:t> </a:t>
            </a:r>
            <a:r>
              <a:rPr dirty="0" err="1"/>
              <a:t>osztályok</a:t>
            </a:r>
            <a:r>
              <a:rPr dirty="0"/>
              <a:t> </a:t>
            </a:r>
            <a:r>
              <a:rPr dirty="0" err="1"/>
              <a:t>használata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egységes</a:t>
            </a:r>
            <a:r>
              <a:rPr dirty="0"/>
              <a:t> JSON </a:t>
            </a:r>
            <a:r>
              <a:rPr dirty="0" err="1"/>
              <a:t>hibaüzenetek</a:t>
            </a:r>
            <a:r>
              <a:rPr dirty="0"/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1554480"/>
            <a:ext cx="3657600" cy="4389120"/>
          </a:xfrm>
          <a:prstGeom prst="roundRect">
            <a:avLst>
              <a:gd name="adj" fmla="val 6000"/>
            </a:avLst>
          </a:prstGeom>
          <a:solidFill>
            <a:srgbClr val="181818"/>
          </a:solidFill>
          <a:ln>
            <a:noFill/>
          </a:ln>
          <a:effectLst>
            <a:outerShdw blurRad="63500" dist="25400" dir="5400000" algn="tl" rotWithShape="0">
              <a:srgbClr val="181818"/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8503920" y="612648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22208" y="6193944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⚙  SERVER</a:t>
            </a:r>
            <a:r>
              <a:rPr lang="hu-HU" dirty="0"/>
              <a:t> OLDALI LOGIKA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65" name="Rectangle 19">
            <a:extLst>
              <a:ext uri="{FF2B5EF4-FFF2-40B4-BE49-F238E27FC236}">
                <a16:creationId xmlns:a16="http://schemas.microsoft.com/office/drawing/2014/main" id="{771E5FE6-366B-1D1A-5C88-BDA062F395F3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20">
            <a:extLst>
              <a:ext uri="{FF2B5EF4-FFF2-40B4-BE49-F238E27FC236}">
                <a16:creationId xmlns:a16="http://schemas.microsoft.com/office/drawing/2014/main" id="{4D816DCB-D8ED-5D88-302E-BC42D3E15A52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21">
            <a:extLst>
              <a:ext uri="{FF2B5EF4-FFF2-40B4-BE49-F238E27FC236}">
                <a16:creationId xmlns:a16="http://schemas.microsoft.com/office/drawing/2014/main" id="{34AE3C01-1EC3-60DD-7EF7-C0B4F695DA5F}"/>
              </a:ext>
            </a:extLst>
          </p:cNvPr>
          <p:cNvSpPr/>
          <p:nvPr/>
        </p:nvSpPr>
        <p:spPr>
          <a:xfrm>
            <a:off x="8127796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1" name="Kép 70">
            <a:extLst>
              <a:ext uri="{FF2B5EF4-FFF2-40B4-BE49-F238E27FC236}">
                <a16:creationId xmlns:a16="http://schemas.microsoft.com/office/drawing/2014/main" id="{9FC5EF5A-E157-1355-9024-C6D52E946F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2063003"/>
            <a:ext cx="2508949" cy="3287984"/>
          </a:xfrm>
          <a:prstGeom prst="rect">
            <a:avLst/>
          </a:prstGeom>
        </p:spPr>
      </p:pic>
      <p:pic>
        <p:nvPicPr>
          <p:cNvPr id="2052" name="Picture 4" descr="Laravel logo Download png">
            <a:extLst>
              <a:ext uri="{FF2B5EF4-FFF2-40B4-BE49-F238E27FC236}">
                <a16:creationId xmlns:a16="http://schemas.microsoft.com/office/drawing/2014/main" id="{E8E3D3C3-3B6B-CBDC-ECF8-BEB7726CD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6344" y="1825247"/>
            <a:ext cx="228175" cy="22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3" name="Szövegdoboz 72">
            <a:extLst>
              <a:ext uri="{FF2B5EF4-FFF2-40B4-BE49-F238E27FC236}">
                <a16:creationId xmlns:a16="http://schemas.microsoft.com/office/drawing/2014/main" id="{68C2B23D-2C3E-9E1F-5F79-19BAF4A2B269}"/>
              </a:ext>
            </a:extLst>
          </p:cNvPr>
          <p:cNvSpPr txBox="1"/>
          <p:nvPr/>
        </p:nvSpPr>
        <p:spPr>
          <a:xfrm>
            <a:off x="923544" y="2730484"/>
            <a:ext cx="44761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hu-HU" dirty="0"/>
              <a:t>🛡️</a:t>
            </a:r>
          </a:p>
        </p:txBody>
      </p:sp>
      <p:pic>
        <p:nvPicPr>
          <p:cNvPr id="2054" name="Picture 6" descr="Layer - Free interface icons">
            <a:extLst>
              <a:ext uri="{FF2B5EF4-FFF2-40B4-BE49-F238E27FC236}">
                <a16:creationId xmlns:a16="http://schemas.microsoft.com/office/drawing/2014/main" id="{48C9F147-02C6-4E70-D9CE-68E12FFF89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665" y="3730752"/>
            <a:ext cx="307534" cy="3075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ADATSTRUKTÚRA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Modellek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Szerepkörök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554480"/>
            <a:ext cx="5303520" cy="4754880"/>
          </a:xfrm>
          <a:prstGeom prst="roundRect">
            <a:avLst>
              <a:gd name="adj" fmla="val 4615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1207008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1408176" y="173736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00400" y="1691640"/>
            <a:ext cx="22860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9CA3AF"/>
                </a:solidFill>
                <a:latin typeface="Consolas"/>
              </a:defRPr>
            </a:pPr>
            <a:r>
              <a:t>/app/Models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2011680"/>
            <a:ext cx="4937760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914400" y="2194560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51560" y="225856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51560" y="2212848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3B82F6"/>
                </a:solidFill>
                <a:latin typeface="Segoe UI"/>
              </a:defRPr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231136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t>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6888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Felhasználók és jogosultságok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33172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hasMany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2788920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1051560" y="285292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1042416" y="281178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F97316"/>
                </a:solidFill>
                <a:latin typeface="Segoe UI"/>
              </a:defRPr>
            </a:pPr>
            <a:r>
              <a:t>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2825496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rPr lang="hu-HU" dirty="0"/>
              <a:t>Camping</a:t>
            </a:r>
            <a:endParaRPr dirty="0"/>
          </a:p>
        </p:txBody>
      </p:sp>
      <p:sp>
        <p:nvSpPr>
          <p:cNvPr id="22" name="TextBox 21"/>
          <p:cNvSpPr txBox="1"/>
          <p:nvPr/>
        </p:nvSpPr>
        <p:spPr>
          <a:xfrm>
            <a:off x="1554480" y="306324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Kemping adatok és beállítások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292608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belongsTo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4400" y="3383280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1051560" y="3447288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1051560" y="342900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3419856"/>
            <a:ext cx="182880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rPr lang="hu-HU" dirty="0"/>
              <a:t>Camping</a:t>
            </a:r>
            <a:r>
              <a:rPr dirty="0"/>
              <a:t>Spot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3657600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Konkrét helyek és tulajdonságok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0" y="3520440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hasMany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14400" y="3977639"/>
            <a:ext cx="4937760" cy="502920"/>
          </a:xfrm>
          <a:prstGeom prst="roundRect">
            <a:avLst>
              <a:gd name="adj" fmla="val 4363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1051560" y="4041647"/>
            <a:ext cx="384048" cy="384048"/>
          </a:xfrm>
          <a:prstGeom prst="roundRect">
            <a:avLst>
              <a:gd name="adj" fmla="val 50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1051560" y="4023360"/>
            <a:ext cx="384048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8B5CF6"/>
                </a:solidFill>
                <a:latin typeface="Segoe UI"/>
              </a:defRPr>
            </a:pPr>
            <a:r>
              <a:rPr dirty="0"/>
              <a:t>📅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4014215"/>
            <a:ext cx="1828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374151"/>
                </a:solidFill>
                <a:latin typeface="Consolas"/>
              </a:defRPr>
            </a:pPr>
            <a:r>
              <a:t>Booking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4251959"/>
            <a:ext cx="2286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Foglalási adatok és státusz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114799"/>
            <a:ext cx="1097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D1D5DB"/>
                </a:solidFill>
                <a:latin typeface="Consolas"/>
              </a:defRPr>
            </a:pPr>
            <a:r>
              <a:t>belongsTo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4617720"/>
            <a:ext cx="23317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1005840" y="46817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005840" y="4663439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EAB308"/>
                </a:solidFill>
                <a:latin typeface="Segoe UI"/>
              </a:defRPr>
            </a:pPr>
            <a:r>
              <a:rPr dirty="0"/>
              <a:t>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71600" y="469087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onsolas"/>
              </a:defRPr>
            </a:pPr>
            <a:r>
              <a:rPr lang="hu-HU" dirty="0" err="1"/>
              <a:t>Comments</a:t>
            </a:r>
            <a:endParaRPr dirty="0"/>
          </a:p>
        </p:txBody>
      </p:sp>
      <p:sp>
        <p:nvSpPr>
          <p:cNvPr id="40" name="Rounded Rectangle 39"/>
          <p:cNvSpPr/>
          <p:nvPr/>
        </p:nvSpPr>
        <p:spPr>
          <a:xfrm>
            <a:off x="3429000" y="4617720"/>
            <a:ext cx="2331720" cy="4114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ounded Rectangle 40"/>
          <p:cNvSpPr/>
          <p:nvPr/>
        </p:nvSpPr>
        <p:spPr>
          <a:xfrm>
            <a:off x="3520440" y="4681728"/>
            <a:ext cx="292608" cy="292608"/>
          </a:xfrm>
          <a:prstGeom prst="roundRect">
            <a:avLst>
              <a:gd name="adj" fmla="val 50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520440" y="4663439"/>
            <a:ext cx="292608" cy="2926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📋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886200" y="4690872"/>
            <a:ext cx="1371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374151"/>
                </a:solidFill>
                <a:latin typeface="Consolas"/>
              </a:defRPr>
            </a:pPr>
            <a:r>
              <a:rPr lang="hu-HU" dirty="0" err="1"/>
              <a:t>EntranceGate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6400800" y="1554480"/>
            <a:ext cx="4572000" cy="3539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Szerepkörök</a:t>
            </a:r>
            <a:endParaRPr dirty="0"/>
          </a:p>
        </p:txBody>
      </p:sp>
      <p:sp>
        <p:nvSpPr>
          <p:cNvPr id="45" name="Rounded Rectangle 44"/>
          <p:cNvSpPr/>
          <p:nvPr/>
        </p:nvSpPr>
        <p:spPr>
          <a:xfrm>
            <a:off x="6400800" y="2011680"/>
            <a:ext cx="5029200" cy="640080"/>
          </a:xfrm>
          <a:prstGeom prst="roundRect">
            <a:avLst>
              <a:gd name="adj" fmla="val 34285"/>
            </a:avLst>
          </a:prstGeom>
          <a:solidFill>
            <a:srgbClr val="F9FAFB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6400800" y="2011680"/>
            <a:ext cx="54864" cy="64008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46"/>
          <p:cNvSpPr/>
          <p:nvPr/>
        </p:nvSpPr>
        <p:spPr>
          <a:xfrm>
            <a:off x="6583680" y="210312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583680" y="208807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👑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208483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t>Adminisztrátor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132320" y="234086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Teljes rendszerhozzáférés, moderálás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400800" y="2788920"/>
            <a:ext cx="5029200" cy="640080"/>
          </a:xfrm>
          <a:prstGeom prst="roundRect">
            <a:avLst>
              <a:gd name="adj" fmla="val 34285"/>
            </a:avLst>
          </a:prstGeom>
          <a:solidFill>
            <a:srgbClr val="EEC096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52" name="Rectangle 51"/>
          <p:cNvSpPr/>
          <p:nvPr/>
        </p:nvSpPr>
        <p:spPr>
          <a:xfrm>
            <a:off x="6400800" y="2788920"/>
            <a:ext cx="54864" cy="640080"/>
          </a:xfrm>
          <a:prstGeom prst="rect">
            <a:avLst/>
          </a:prstGeom>
          <a:solidFill>
            <a:srgbClr val="DF8534"/>
          </a:solidFill>
          <a:ln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1">
                    <a:lumMod val="45000"/>
                    <a:lumOff val="55000"/>
                  </a:schemeClr>
                </a:gs>
                <a:gs pos="83000">
                  <a:schemeClr val="accent1">
                    <a:lumMod val="45000"/>
                    <a:lumOff val="55000"/>
                  </a:schemeClr>
                </a:gs>
                <a:gs pos="100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ounded Rectangle 52"/>
          <p:cNvSpPr/>
          <p:nvPr/>
        </p:nvSpPr>
        <p:spPr>
          <a:xfrm>
            <a:off x="6583680" y="288036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6583680" y="2866644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rPr dirty="0"/>
              <a:t>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132320" y="286207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rPr dirty="0" err="1"/>
              <a:t>Tulajdonos</a:t>
            </a:r>
            <a:endParaRPr dirty="0"/>
          </a:p>
        </p:txBody>
      </p:sp>
      <p:sp>
        <p:nvSpPr>
          <p:cNvPr id="56" name="TextBox 55"/>
          <p:cNvSpPr txBox="1"/>
          <p:nvPr/>
        </p:nvSpPr>
        <p:spPr>
          <a:xfrm>
            <a:off x="7132320" y="311810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Saját</a:t>
            </a:r>
            <a:r>
              <a:rPr dirty="0"/>
              <a:t> </a:t>
            </a:r>
            <a:r>
              <a:rPr dirty="0" err="1"/>
              <a:t>kemping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spotok</a:t>
            </a:r>
            <a:r>
              <a:rPr dirty="0"/>
              <a:t> </a:t>
            </a:r>
            <a:r>
              <a:rPr dirty="0" err="1"/>
              <a:t>kezelése</a:t>
            </a:r>
            <a:endParaRPr dirty="0"/>
          </a:p>
        </p:txBody>
      </p:sp>
      <p:sp>
        <p:nvSpPr>
          <p:cNvPr id="57" name="Rounded Rectangle 56"/>
          <p:cNvSpPr/>
          <p:nvPr/>
        </p:nvSpPr>
        <p:spPr>
          <a:xfrm>
            <a:off x="6400800" y="3566160"/>
            <a:ext cx="5029200" cy="640080"/>
          </a:xfrm>
          <a:prstGeom prst="roundRect">
            <a:avLst>
              <a:gd name="adj" fmla="val 34285"/>
            </a:avLst>
          </a:prstGeom>
          <a:solidFill>
            <a:srgbClr val="BFD5AB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400800" y="3566160"/>
            <a:ext cx="54864" cy="64008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6583680" y="3657600"/>
            <a:ext cx="411480" cy="411480"/>
          </a:xfrm>
          <a:prstGeom prst="roundRect">
            <a:avLst>
              <a:gd name="adj" fmla="val 50000"/>
            </a:avLst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6592824" y="3637080"/>
            <a:ext cx="4114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FFFFFF"/>
                </a:solidFill>
                <a:latin typeface="Segoe UI"/>
              </a:defRPr>
            </a:pPr>
            <a:r>
              <a:t>🥾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132320" y="3639312"/>
            <a:ext cx="36576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F2937"/>
                </a:solidFill>
                <a:latin typeface="Segoe UI"/>
              </a:defRPr>
            </a:pPr>
            <a:r>
              <a:t>Vendég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132320" y="3895344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6B7280"/>
                </a:solidFill>
                <a:latin typeface="Segoe UI"/>
              </a:defRPr>
            </a:pPr>
            <a:r>
              <a:t>Keresés, foglalás, értékelés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6400800" y="4389120"/>
            <a:ext cx="5029200" cy="1920240"/>
          </a:xfrm>
          <a:prstGeom prst="roundRect">
            <a:avLst>
              <a:gd name="adj" fmla="val 11428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675120" y="4526280"/>
            <a:ext cx="365760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B981"/>
                </a:solidFill>
                <a:latin typeface="Segoe UI"/>
              </a:defRPr>
            </a:pPr>
            <a:r>
              <a:rPr lang="hu-HU" dirty="0"/>
              <a:t>    </a:t>
            </a:r>
            <a:r>
              <a:rPr dirty="0"/>
              <a:t>  </a:t>
            </a:r>
            <a:r>
              <a:rPr dirty="0">
                <a:solidFill>
                  <a:srgbClr val="516E37"/>
                </a:solidFill>
              </a:rPr>
              <a:t>QR Token </a:t>
            </a:r>
            <a:r>
              <a:rPr dirty="0" err="1">
                <a:solidFill>
                  <a:srgbClr val="516E37"/>
                </a:solidFill>
              </a:rPr>
              <a:t>Tárolás</a:t>
            </a:r>
            <a:endParaRPr dirty="0">
              <a:solidFill>
                <a:srgbClr val="516E37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6675120" y="4846320"/>
            <a:ext cx="43891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9CA3AF"/>
                </a:solidFill>
                <a:latin typeface="Segoe UI"/>
              </a:defRPr>
            </a:pPr>
            <a:r>
              <a:rPr lang="hu-HU" sz="1100" dirty="0"/>
              <a:t>A beléptető rendszerhez szükséges egyedi </a:t>
            </a:r>
            <a:r>
              <a:rPr lang="hu-HU" sz="1100" dirty="0" err="1"/>
              <a:t>token</a:t>
            </a:r>
            <a:r>
              <a:rPr lang="hu-HU" sz="1100" dirty="0"/>
              <a:t> a </a:t>
            </a:r>
            <a:r>
              <a:rPr lang="hu-HU" sz="1100" dirty="0" err="1"/>
              <a:t>Booking</a:t>
            </a:r>
            <a:r>
              <a:rPr lang="hu-HU" sz="1100" dirty="0"/>
              <a:t> modellben kerül tárolásra.</a:t>
            </a:r>
            <a:endParaRPr dirty="0"/>
          </a:p>
        </p:txBody>
      </p:sp>
      <p:sp>
        <p:nvSpPr>
          <p:cNvPr id="66" name="Rounded Rectangle 65"/>
          <p:cNvSpPr/>
          <p:nvPr/>
        </p:nvSpPr>
        <p:spPr>
          <a:xfrm>
            <a:off x="6675120" y="5394960"/>
            <a:ext cx="4480560" cy="777240"/>
          </a:xfrm>
          <a:prstGeom prst="roundRect">
            <a:avLst>
              <a:gd name="adj" fmla="val 28235"/>
            </a:avLst>
          </a:prstGeom>
          <a:solidFill>
            <a:srgbClr val="1F2937"/>
          </a:solidFill>
          <a:ln w="9525">
            <a:solidFill>
              <a:srgbClr val="374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58000" y="5440680"/>
            <a:ext cx="36576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B7280"/>
                </a:solidFill>
                <a:latin typeface="Consolas"/>
              </a:defRPr>
            </a:pPr>
            <a:r>
              <a:t>🗄  bookings table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58000" y="5669280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Consolas"/>
              </a:defRPr>
            </a:pPr>
            <a:r>
              <a:rPr dirty="0" err="1"/>
              <a:t>qr</a:t>
            </a:r>
            <a:r>
              <a:rPr dirty="0"/>
              <a:t>_</a:t>
            </a:r>
            <a:r>
              <a:rPr lang="hu-HU" dirty="0" err="1"/>
              <a:t>code</a:t>
            </a:r>
            <a:endParaRPr dirty="0"/>
          </a:p>
        </p:txBody>
      </p:sp>
      <p:sp>
        <p:nvSpPr>
          <p:cNvPr id="69" name="TextBox 68"/>
          <p:cNvSpPr txBox="1"/>
          <p:nvPr/>
        </p:nvSpPr>
        <p:spPr>
          <a:xfrm>
            <a:off x="8961120" y="5669280"/>
            <a:ext cx="2011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rPr sz="800" dirty="0"/>
              <a:t>varchar(</a:t>
            </a:r>
            <a:r>
              <a:rPr lang="hu-HU" sz="800" dirty="0"/>
              <a:t>255</a:t>
            </a:r>
            <a:r>
              <a:rPr sz="800" dirty="0"/>
              <a:t>) [</a:t>
            </a:r>
            <a:r>
              <a:rPr lang="hu-HU" sz="800" dirty="0" err="1"/>
              <a:t>Nullable</a:t>
            </a:r>
            <a:r>
              <a:rPr sz="800" dirty="0"/>
              <a:t>]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58000" y="5833872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Consolas"/>
              </a:defRPr>
            </a:pPr>
            <a:r>
              <a:rPr lang="hu-HU" dirty="0"/>
              <a:t>status</a:t>
            </a:r>
            <a:endParaRPr dirty="0"/>
          </a:p>
        </p:txBody>
      </p:sp>
      <p:sp>
        <p:nvSpPr>
          <p:cNvPr id="71" name="TextBox 70"/>
          <p:cNvSpPr txBox="1"/>
          <p:nvPr/>
        </p:nvSpPr>
        <p:spPr>
          <a:xfrm>
            <a:off x="8961120" y="5833872"/>
            <a:ext cx="2011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rPr lang="hu-HU" sz="800" dirty="0" err="1"/>
              <a:t>varchar</a:t>
            </a:r>
            <a:r>
              <a:rPr lang="hu-HU" sz="800" dirty="0"/>
              <a:t>(30) [</a:t>
            </a:r>
            <a:r>
              <a:rPr lang="hu-HU" sz="800" dirty="0" err="1"/>
              <a:t>Nullable</a:t>
            </a:r>
            <a:r>
              <a:rPr lang="hu-HU" sz="800" dirty="0"/>
              <a:t>]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858000" y="5982408"/>
            <a:ext cx="18288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Consolas"/>
              </a:defRPr>
            </a:pPr>
            <a:r>
              <a:rPr lang="hu-HU" dirty="0" err="1"/>
              <a:t>guests</a:t>
            </a:r>
            <a:endParaRPr dirty="0"/>
          </a:p>
        </p:txBody>
      </p:sp>
      <p:sp>
        <p:nvSpPr>
          <p:cNvPr id="73" name="TextBox 72"/>
          <p:cNvSpPr txBox="1"/>
          <p:nvPr/>
        </p:nvSpPr>
        <p:spPr>
          <a:xfrm>
            <a:off x="8961120" y="5998464"/>
            <a:ext cx="2011680" cy="2154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0">
                <a:solidFill>
                  <a:srgbClr val="6B7280"/>
                </a:solidFill>
                <a:latin typeface="Consolas"/>
              </a:defRPr>
            </a:pPr>
            <a:r>
              <a:rPr lang="hu-HU" sz="800" dirty="0"/>
              <a:t>integer [</a:t>
            </a:r>
            <a:r>
              <a:rPr lang="hu-HU" sz="800" dirty="0" err="1"/>
              <a:t>Default</a:t>
            </a:r>
            <a:r>
              <a:rPr lang="hu-HU" sz="800" dirty="0"/>
              <a:t>: 1]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0" y="6748272"/>
            <a:ext cx="3017520" cy="109728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06</a:t>
            </a:r>
          </a:p>
        </p:txBody>
      </p:sp>
      <p:grpSp>
        <p:nvGrpSpPr>
          <p:cNvPr id="82" name="Csoportba foglalás 81">
            <a:extLst>
              <a:ext uri="{FF2B5EF4-FFF2-40B4-BE49-F238E27FC236}">
                <a16:creationId xmlns:a16="http://schemas.microsoft.com/office/drawing/2014/main" id="{7B8B7726-3A22-936C-CB85-CA906CBB3AE3}"/>
              </a:ext>
            </a:extLst>
          </p:cNvPr>
          <p:cNvGrpSpPr/>
          <p:nvPr/>
        </p:nvGrpSpPr>
        <p:grpSpPr>
          <a:xfrm>
            <a:off x="0" y="6748272"/>
            <a:ext cx="12191695" cy="109728"/>
            <a:chOff x="0" y="6748272"/>
            <a:chExt cx="12191695" cy="109728"/>
          </a:xfrm>
        </p:grpSpPr>
        <p:sp>
          <p:nvSpPr>
            <p:cNvPr id="83" name="Rectangle 19">
              <a:extLst>
                <a:ext uri="{FF2B5EF4-FFF2-40B4-BE49-F238E27FC236}">
                  <a16:creationId xmlns:a16="http://schemas.microsoft.com/office/drawing/2014/main" id="{7A9B38FE-7C15-2DC5-C1DF-C491DFEE0AFB}"/>
                </a:ext>
              </a:extLst>
            </p:cNvPr>
            <p:cNvSpPr/>
            <p:nvPr/>
          </p:nvSpPr>
          <p:spPr>
            <a:xfrm>
              <a:off x="0" y="6748272"/>
              <a:ext cx="4063898" cy="109728"/>
            </a:xfrm>
            <a:prstGeom prst="rect">
              <a:avLst/>
            </a:prstGeom>
            <a:solidFill>
              <a:srgbClr val="DF853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4" name="Rectangle 20">
              <a:extLst>
                <a:ext uri="{FF2B5EF4-FFF2-40B4-BE49-F238E27FC236}">
                  <a16:creationId xmlns:a16="http://schemas.microsoft.com/office/drawing/2014/main" id="{B83498CD-61D2-BDD3-6619-0FCD13A0A184}"/>
                </a:ext>
              </a:extLst>
            </p:cNvPr>
            <p:cNvSpPr/>
            <p:nvPr/>
          </p:nvSpPr>
          <p:spPr>
            <a:xfrm>
              <a:off x="4063898" y="6748272"/>
              <a:ext cx="4063898" cy="109728"/>
            </a:xfrm>
            <a:prstGeom prst="rect">
              <a:avLst/>
            </a:prstGeom>
            <a:solidFill>
              <a:srgbClr val="516E37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5" name="Rectangle 21">
              <a:extLst>
                <a:ext uri="{FF2B5EF4-FFF2-40B4-BE49-F238E27FC236}">
                  <a16:creationId xmlns:a16="http://schemas.microsoft.com/office/drawing/2014/main" id="{CB0E8380-D148-BCE0-81EA-86357F52B540}"/>
                </a:ext>
              </a:extLst>
            </p:cNvPr>
            <p:cNvSpPr/>
            <p:nvPr/>
          </p:nvSpPr>
          <p:spPr>
            <a:xfrm>
              <a:off x="8127796" y="6748272"/>
              <a:ext cx="4063899" cy="109728"/>
            </a:xfrm>
            <a:prstGeom prst="rect">
              <a:avLst/>
            </a:prstGeom>
            <a:solidFill>
              <a:srgbClr val="F9FAFB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pic>
        <p:nvPicPr>
          <p:cNvPr id="86" name="Ábra 85">
            <a:extLst>
              <a:ext uri="{FF2B5EF4-FFF2-40B4-BE49-F238E27FC236}">
                <a16:creationId xmlns:a16="http://schemas.microsoft.com/office/drawing/2014/main" id="{919D0119-DA7A-8D69-4D0C-561BE05DB37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96417" y="4523154"/>
            <a:ext cx="323166" cy="32316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BACKEND LOGIKA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API </a:t>
            </a:r>
            <a:r>
              <a:rPr sz="3400" b="1" dirty="0" err="1">
                <a:solidFill>
                  <a:srgbClr val="516E37"/>
                </a:solidFill>
                <a:latin typeface="Segoe UI Semibold"/>
              </a:rPr>
              <a:t>Controllerek</a:t>
            </a:r>
            <a:endParaRPr sz="3400" b="1" dirty="0">
              <a:solidFill>
                <a:srgbClr val="516E37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6858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666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rPr dirty="0"/>
              <a:t>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AuthController &amp; Jogosultságok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Regisztráció, bejelentkezés, Sanctum token kezelés és Laravel Policy integráció.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59152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404872"/>
            <a:ext cx="54864" cy="6858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496312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436876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468880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Campsite &amp; Spot Management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743200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Resource controllerek (index, show, store...) a kempingek és helyek CRUD műveleteihez.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255264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300984"/>
            <a:ext cx="54864" cy="685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392424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23544" y="337845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364992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Booking &amp; Review Logic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639312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Foglalási folyamat tranzakciókezelése és vendégértékelések validálása.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151376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197096"/>
            <a:ext cx="54864" cy="6858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288536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4261104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QR Beléptetés (IoT)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535424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QRController: titkosított token validáció és belépési napló (EntryLog) rögzítése.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047488"/>
            <a:ext cx="6858000" cy="777240"/>
          </a:xfrm>
          <a:prstGeom prst="roundRect">
            <a:avLst>
              <a:gd name="adj" fmla="val 28235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093208"/>
            <a:ext cx="54864" cy="68580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184648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515162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9CA3AF"/>
                </a:solidFill>
                <a:latin typeface="Segoe UI"/>
              </a:defRPr>
            </a:pPr>
            <a:r>
              <a:rPr dirty="0"/>
              <a:t>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157216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Dashboard Statisztikák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431536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Aggregált adatok tulajdonosoknak: foglaltság, bevételek és napi belépések.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1463040"/>
            <a:ext cx="3657600" cy="41148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1965960"/>
            <a:ext cx="3108960" cy="30675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&lt;?php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// </a:t>
            </a:r>
            <a:r>
              <a:rPr lang="hu-HU" dirty="0" err="1"/>
              <a:t>routes</a:t>
            </a:r>
            <a:r>
              <a:rPr lang="hu-HU" dirty="0"/>
              <a:t>/</a:t>
            </a:r>
            <a:r>
              <a:rPr lang="hu-HU" dirty="0" err="1"/>
              <a:t>api.php</a:t>
            </a: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// ESP32 QR szkenner (nem </a:t>
            </a:r>
            <a:r>
              <a:rPr lang="hu-HU" dirty="0" err="1"/>
              <a:t>Sanctum</a:t>
            </a:r>
            <a:r>
              <a:rPr lang="hu-HU" dirty="0"/>
              <a:t>, saját </a:t>
            </a:r>
            <a:r>
              <a:rPr lang="hu-HU" dirty="0" err="1"/>
              <a:t>token</a:t>
            </a:r>
            <a:r>
              <a:rPr lang="hu-HU" dirty="0"/>
              <a:t>)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 err="1"/>
              <a:t>Route</a:t>
            </a:r>
            <a:r>
              <a:rPr lang="hu-HU" dirty="0"/>
              <a:t>::post('/</a:t>
            </a:r>
            <a:r>
              <a:rPr lang="hu-HU" dirty="0" err="1"/>
              <a:t>bookings</a:t>
            </a:r>
            <a:r>
              <a:rPr lang="hu-HU" dirty="0"/>
              <a:t>/</a:t>
            </a:r>
            <a:r>
              <a:rPr lang="hu-HU" dirty="0" err="1"/>
              <a:t>scan</a:t>
            </a:r>
            <a:r>
              <a:rPr lang="hu-HU" dirty="0"/>
              <a:t>-image',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[</a:t>
            </a:r>
            <a:r>
              <a:rPr lang="hu-HU" dirty="0" err="1"/>
              <a:t>BookingController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'</a:t>
            </a:r>
            <a:r>
              <a:rPr lang="hu-HU" dirty="0" err="1"/>
              <a:t>scanImage</a:t>
            </a:r>
            <a:r>
              <a:rPr lang="hu-HU" dirty="0"/>
              <a:t>']);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 err="1"/>
              <a:t>Route</a:t>
            </a:r>
            <a:r>
              <a:rPr lang="hu-HU" dirty="0"/>
              <a:t>::</a:t>
            </a:r>
            <a:r>
              <a:rPr lang="hu-HU" dirty="0" err="1"/>
              <a:t>middleware</a:t>
            </a:r>
            <a:r>
              <a:rPr lang="hu-HU" dirty="0"/>
              <a:t>('</a:t>
            </a:r>
            <a:r>
              <a:rPr lang="hu-HU" dirty="0" err="1"/>
              <a:t>auth:sanctum</a:t>
            </a:r>
            <a:r>
              <a:rPr lang="hu-HU" dirty="0"/>
              <a:t>')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-&gt;</a:t>
            </a:r>
            <a:r>
              <a:rPr lang="hu-HU" dirty="0" err="1"/>
              <a:t>group</a:t>
            </a:r>
            <a:r>
              <a:rPr lang="hu-HU" dirty="0"/>
              <a:t>(</a:t>
            </a:r>
            <a:r>
              <a:rPr lang="hu-HU" dirty="0" err="1"/>
              <a:t>function</a:t>
            </a:r>
            <a:r>
              <a:rPr lang="hu-HU" dirty="0"/>
              <a:t> ()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::post('/</a:t>
            </a:r>
            <a:r>
              <a:rPr lang="hu-HU" dirty="0" err="1"/>
              <a:t>bookings</a:t>
            </a:r>
            <a:r>
              <a:rPr lang="hu-HU" dirty="0"/>
              <a:t>', ...);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</a:t>
            </a:r>
            <a:r>
              <a:rPr lang="hu-HU" dirty="0" err="1"/>
              <a:t>get</a:t>
            </a:r>
            <a:r>
              <a:rPr lang="hu-HU" dirty="0"/>
              <a:t>('/</a:t>
            </a:r>
            <a:r>
              <a:rPr lang="hu-HU" dirty="0" err="1"/>
              <a:t>bookings</a:t>
            </a:r>
            <a:r>
              <a:rPr lang="hu-HU" dirty="0"/>
              <a:t>/{</a:t>
            </a:r>
            <a:r>
              <a:rPr lang="hu-HU" dirty="0" err="1"/>
              <a:t>id</a:t>
            </a:r>
            <a:r>
              <a:rPr lang="hu-HU" dirty="0"/>
              <a:t>}/</a:t>
            </a:r>
            <a:r>
              <a:rPr lang="hu-HU" dirty="0" err="1"/>
              <a:t>qr-code</a:t>
            </a:r>
            <a:r>
              <a:rPr lang="hu-HU" dirty="0"/>
              <a:t>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  [</a:t>
            </a:r>
            <a:r>
              <a:rPr lang="hu-HU" dirty="0" err="1"/>
              <a:t>BookingController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'</a:t>
            </a:r>
            <a:r>
              <a:rPr lang="hu-HU" dirty="0" err="1"/>
              <a:t>getQrCode</a:t>
            </a:r>
            <a:r>
              <a:rPr lang="hu-HU" dirty="0"/>
              <a:t>']);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::post('/</a:t>
            </a:r>
            <a:r>
              <a:rPr lang="hu-HU" dirty="0" err="1"/>
              <a:t>bookings</a:t>
            </a:r>
            <a:r>
              <a:rPr lang="hu-HU" dirty="0"/>
              <a:t>/</a:t>
            </a:r>
            <a:r>
              <a:rPr lang="hu-HU" dirty="0" err="1"/>
              <a:t>scan</a:t>
            </a:r>
            <a:r>
              <a:rPr lang="hu-HU" dirty="0"/>
              <a:t>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  [</a:t>
            </a:r>
            <a:r>
              <a:rPr lang="hu-HU" dirty="0" err="1"/>
              <a:t>BookingController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'</a:t>
            </a:r>
            <a:r>
              <a:rPr lang="hu-HU" dirty="0" err="1"/>
              <a:t>scanQrCode</a:t>
            </a:r>
            <a:r>
              <a:rPr lang="hu-HU" dirty="0"/>
              <a:t>']);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</a:t>
            </a:r>
            <a:r>
              <a:rPr lang="hu-HU" dirty="0" err="1"/>
              <a:t>Route</a:t>
            </a:r>
            <a:r>
              <a:rPr lang="hu-HU" dirty="0"/>
              <a:t>::</a:t>
            </a:r>
            <a:r>
              <a:rPr lang="hu-HU" dirty="0" err="1"/>
              <a:t>get</a:t>
            </a:r>
            <a:r>
              <a:rPr lang="hu-HU" dirty="0"/>
              <a:t>('/</a:t>
            </a:r>
            <a:r>
              <a:rPr lang="hu-HU" dirty="0" err="1"/>
              <a:t>dashboard</a:t>
            </a:r>
            <a:r>
              <a:rPr lang="hu-HU" dirty="0"/>
              <a:t>',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    [</a:t>
            </a:r>
            <a:r>
              <a:rPr lang="hu-HU" dirty="0" err="1"/>
              <a:t>DashboardController</a:t>
            </a:r>
            <a:r>
              <a:rPr lang="hu-HU" dirty="0"/>
              <a:t>::</a:t>
            </a:r>
            <a:r>
              <a:rPr lang="hu-HU" dirty="0" err="1"/>
              <a:t>class</a:t>
            </a:r>
            <a:r>
              <a:rPr lang="hu-HU" dirty="0"/>
              <a:t>, ...]);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});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8046720" y="5760720"/>
            <a:ext cx="1691640" cy="502920"/>
          </a:xfrm>
          <a:prstGeom prst="roundRect">
            <a:avLst>
              <a:gd name="adj" fmla="val 43636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021320" y="5857056"/>
            <a:ext cx="169164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B7280"/>
                </a:solidFill>
                <a:latin typeface="Segoe UI"/>
              </a:defRPr>
            </a:pPr>
            <a:r>
              <a:rPr sz="1400" dirty="0"/>
              <a:t>  REST API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966960" y="5760720"/>
            <a:ext cx="1737360" cy="502920"/>
          </a:xfrm>
          <a:prstGeom prst="roundRect">
            <a:avLst>
              <a:gd name="adj" fmla="val 43636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10058400" y="5835432"/>
            <a:ext cx="1737360" cy="30777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6B7280"/>
                </a:solidFill>
                <a:latin typeface="Segoe UI"/>
              </a:defRPr>
            </a:pPr>
            <a:r>
              <a:rPr sz="1400" dirty="0"/>
              <a:t>Policies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47" name="Rectangle 19">
            <a:extLst>
              <a:ext uri="{FF2B5EF4-FFF2-40B4-BE49-F238E27FC236}">
                <a16:creationId xmlns:a16="http://schemas.microsoft.com/office/drawing/2014/main" id="{88A97445-1720-0CA5-3115-AE38A39DC0D2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20">
            <a:extLst>
              <a:ext uri="{FF2B5EF4-FFF2-40B4-BE49-F238E27FC236}">
                <a16:creationId xmlns:a16="http://schemas.microsoft.com/office/drawing/2014/main" id="{552C8E28-63A4-14E3-B870-178F4D87F273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21">
            <a:extLst>
              <a:ext uri="{FF2B5EF4-FFF2-40B4-BE49-F238E27FC236}">
                <a16:creationId xmlns:a16="http://schemas.microsoft.com/office/drawing/2014/main" id="{405AF388-1D22-19C5-DE97-79D83F7B8893}"/>
              </a:ext>
            </a:extLst>
          </p:cNvPr>
          <p:cNvSpPr/>
          <p:nvPr/>
        </p:nvSpPr>
        <p:spPr>
          <a:xfrm>
            <a:off x="8127796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2">
            <a:extLst>
              <a:ext uri="{FF2B5EF4-FFF2-40B4-BE49-F238E27FC236}">
                <a16:creationId xmlns:a16="http://schemas.microsoft.com/office/drawing/2014/main" id="{61114E4D-2EBD-1524-90E3-F69BB87FB5AF}"/>
              </a:ext>
            </a:extLst>
          </p:cNvPr>
          <p:cNvSpPr/>
          <p:nvPr/>
        </p:nvSpPr>
        <p:spPr>
          <a:xfrm>
            <a:off x="914400" y="610870"/>
            <a:ext cx="685800" cy="54864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1" name="Ábra 50">
            <a:extLst>
              <a:ext uri="{FF2B5EF4-FFF2-40B4-BE49-F238E27FC236}">
                <a16:creationId xmlns:a16="http://schemas.microsoft.com/office/drawing/2014/main" id="{F32ED44F-660C-0E54-6115-9542A6C030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8849" y="4373841"/>
            <a:ext cx="323166" cy="32316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FEJLESZTÉS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Frontend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Felépítés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73152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Vue 3 + 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Villámgyors SPA keretrendszer, modern Composition API és optimalizált build.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54864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56032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253288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Tailwind CSS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0720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Utility-first design rendszer a gyors, reszponzív és egységes UI építéséhez.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52044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554480" y="349300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Axios &amp; Állapotkezelés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76732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Hatékony kommunikáció a Laravel API-val, reaktív adatkezelés.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54864" cy="73152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48056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554480" y="44531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Leaflet.js Térkép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72744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Interaktív térképkezelés, GeoJSON alapú kemping és helyszín megjelenítés.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349240"/>
            <a:ext cx="54864" cy="7315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44068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542239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8B5CF6"/>
                </a:solidFill>
                <a:latin typeface="Segoe UI"/>
              </a:defRPr>
            </a:pPr>
            <a:r>
              <a:rPr dirty="0"/>
              <a:t>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1324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Szerepkör Alapú Nézetek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687568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Elkülönített felületek: Vendég (foglalás), Tulajdonos (admin), Rendszergazda.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04672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1965960"/>
            <a:ext cx="310896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8503920" y="626364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6331104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CLIENT</a:t>
            </a:r>
            <a:r>
              <a:rPr lang="hu-HU" dirty="0"/>
              <a:t> OLDALI LOGIKA</a:t>
            </a:r>
            <a:endParaRPr dirty="0"/>
          </a:p>
        </p:txBody>
      </p:sp>
      <p:sp>
        <p:nvSpPr>
          <p:cNvPr id="44" name="TextBox 4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08</a:t>
            </a:r>
          </a:p>
        </p:txBody>
      </p:sp>
      <p:pic>
        <p:nvPicPr>
          <p:cNvPr id="5130" name="Picture 10">
            <a:extLst>
              <a:ext uri="{FF2B5EF4-FFF2-40B4-BE49-F238E27FC236}">
                <a16:creationId xmlns:a16="http://schemas.microsoft.com/office/drawing/2014/main" id="{DC0099A2-08B1-EE39-DE59-C54F54DC295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4889" y="1717580"/>
            <a:ext cx="334286" cy="289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>
            <a:extLst>
              <a:ext uri="{FF2B5EF4-FFF2-40B4-BE49-F238E27FC236}">
                <a16:creationId xmlns:a16="http://schemas.microsoft.com/office/drawing/2014/main" id="{A91A16A9-1910-7A79-C18D-04EC009A5C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9998" y="2684597"/>
            <a:ext cx="400868" cy="2452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AutoShape 28" descr="Leaflet Vector SVG Icon - SVG Repo">
            <a:extLst>
              <a:ext uri="{FF2B5EF4-FFF2-40B4-BE49-F238E27FC236}">
                <a16:creationId xmlns:a16="http://schemas.microsoft.com/office/drawing/2014/main" id="{BB99B7C6-935F-EEF9-96F8-3E4D3E4736D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hu-HU"/>
          </a:p>
        </p:txBody>
      </p:sp>
      <p:pic>
        <p:nvPicPr>
          <p:cNvPr id="57" name="Ábra 56">
            <a:extLst>
              <a:ext uri="{FF2B5EF4-FFF2-40B4-BE49-F238E27FC236}">
                <a16:creationId xmlns:a16="http://schemas.microsoft.com/office/drawing/2014/main" id="{6AFC9DE6-0303-A0B4-614F-106A0603F91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889" y="4592193"/>
            <a:ext cx="297424" cy="280498"/>
          </a:xfrm>
          <a:prstGeom prst="rect">
            <a:avLst/>
          </a:prstGeom>
        </p:spPr>
      </p:pic>
      <p:sp>
        <p:nvSpPr>
          <p:cNvPr id="58" name="TextBox 26">
            <a:extLst>
              <a:ext uri="{FF2B5EF4-FFF2-40B4-BE49-F238E27FC236}">
                <a16:creationId xmlns:a16="http://schemas.microsoft.com/office/drawing/2014/main" id="{E0E31322-2AF1-90AB-45AD-841536F408D6}"/>
              </a:ext>
            </a:extLst>
          </p:cNvPr>
          <p:cNvSpPr txBox="1"/>
          <p:nvPr/>
        </p:nvSpPr>
        <p:spPr>
          <a:xfrm>
            <a:off x="923544" y="3515868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🔀</a:t>
            </a:r>
          </a:p>
        </p:txBody>
      </p:sp>
      <p:sp>
        <p:nvSpPr>
          <p:cNvPr id="59" name="Rectangle 19">
            <a:extLst>
              <a:ext uri="{FF2B5EF4-FFF2-40B4-BE49-F238E27FC236}">
                <a16:creationId xmlns:a16="http://schemas.microsoft.com/office/drawing/2014/main" id="{E40BCEEA-AC09-48BC-1AB5-F71A81F9E5D8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20">
            <a:extLst>
              <a:ext uri="{FF2B5EF4-FFF2-40B4-BE49-F238E27FC236}">
                <a16:creationId xmlns:a16="http://schemas.microsoft.com/office/drawing/2014/main" id="{F6A38C53-79AF-33C3-B2B0-0502EAB0E713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21">
            <a:extLst>
              <a:ext uri="{FF2B5EF4-FFF2-40B4-BE49-F238E27FC236}">
                <a16:creationId xmlns:a16="http://schemas.microsoft.com/office/drawing/2014/main" id="{79E49FAC-FD29-BD98-CD70-280EE02BFDE3}"/>
              </a:ext>
            </a:extLst>
          </p:cNvPr>
          <p:cNvSpPr/>
          <p:nvPr/>
        </p:nvSpPr>
        <p:spPr>
          <a:xfrm>
            <a:off x="8127796" y="6760536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ADATBÁZIS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771652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Adatmodell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3B82F6"/>
                </a:solidFill>
                <a:latin typeface="Segoe UI Semibold"/>
              </a:rPr>
              <a:t>Kapcsolatok</a:t>
            </a:r>
            <a:endParaRPr sz="3400" b="1" dirty="0">
              <a:solidFill>
                <a:srgbClr val="3B82F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686800" y="502920"/>
            <a:ext cx="3017520" cy="41148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585216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B82F6"/>
                </a:solidFill>
                <a:latin typeface="Segoe UI"/>
              </a:defRPr>
            </a:pPr>
            <a:r>
              <a:rPr dirty="0"/>
              <a:t>☁  PostgreSQL @ Neon Cloud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06640" y="137160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406640" y="1417320"/>
            <a:ext cx="54864" cy="9601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635240" y="1431133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EF4444"/>
                </a:solidFill>
                <a:latin typeface="Segoe UI"/>
              </a:defRPr>
            </a:pPr>
            <a:r>
              <a:rPr sz="2000" dirty="0"/>
              <a:t>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146304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Eloquent ORM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06640" y="260604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7406640" y="2651760"/>
            <a:ext cx="54864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589520" y="2660289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8B5CF6"/>
                </a:solidFill>
                <a:latin typeface="Segoe UI"/>
              </a:defRPr>
            </a:pPr>
            <a:r>
              <a:rPr sz="2000" dirty="0"/>
              <a:t>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69748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Integritás &amp; Kapcsolatok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06640" y="384048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06640" y="3886200"/>
            <a:ext cx="54864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89520" y="3919571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F97316"/>
                </a:solidFill>
                <a:latin typeface="Segoe UI"/>
              </a:defRPr>
            </a:pPr>
            <a:r>
              <a:rPr sz="2000" dirty="0"/>
              <a:t>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393192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Optimalizált Keresés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0" y="4251960"/>
            <a:ext cx="347472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sz="1100" i="1" dirty="0"/>
              <a:t>Összetett indexek: (</a:t>
            </a:r>
            <a:r>
              <a:rPr lang="hu-HU" sz="1100" i="1" dirty="0" err="1"/>
              <a:t>spot_id</a:t>
            </a:r>
            <a:r>
              <a:rPr lang="hu-HU" sz="1100" i="1" dirty="0"/>
              <a:t>, </a:t>
            </a:r>
            <a:r>
              <a:rPr lang="hu-HU" sz="1100" i="1" dirty="0" err="1"/>
              <a:t>arrival</a:t>
            </a:r>
            <a:r>
              <a:rPr lang="hu-HU" sz="1100" i="1" dirty="0"/>
              <a:t>, </a:t>
            </a:r>
            <a:r>
              <a:rPr lang="hu-HU" sz="1100" i="1" dirty="0" err="1"/>
              <a:t>departure</a:t>
            </a:r>
            <a:r>
              <a:rPr lang="hu-HU" sz="1100" i="1" dirty="0"/>
              <a:t>), (</a:t>
            </a:r>
            <a:r>
              <a:rPr lang="hu-HU" sz="1100" i="1" dirty="0" err="1"/>
              <a:t>camping_id</a:t>
            </a:r>
            <a:r>
              <a:rPr lang="hu-HU" sz="1100" i="1" dirty="0"/>
              <a:t>, </a:t>
            </a:r>
            <a:r>
              <a:rPr lang="hu-HU" sz="1100" i="1" dirty="0" err="1"/>
              <a:t>timestamp</a:t>
            </a:r>
            <a:r>
              <a:rPr lang="hu-HU" sz="1100" i="1" dirty="0"/>
              <a:t>), </a:t>
            </a:r>
            <a:r>
              <a:rPr lang="hu-HU" sz="1100" i="1" dirty="0" err="1"/>
              <a:t>unique</a:t>
            </a:r>
            <a:r>
              <a:rPr lang="hu-HU" sz="1100" i="1" dirty="0"/>
              <a:t>(</a:t>
            </a:r>
            <a:r>
              <a:rPr lang="hu-HU" sz="1100" i="1" dirty="0" err="1"/>
              <a:t>camping_id</a:t>
            </a:r>
            <a:r>
              <a:rPr lang="hu-HU" sz="1100" i="1" dirty="0"/>
              <a:t>, tag).</a:t>
            </a:r>
            <a:endParaRPr dirty="0"/>
          </a:p>
        </p:txBody>
      </p:sp>
      <p:sp>
        <p:nvSpPr>
          <p:cNvPr id="30" name="Rounded Rectangle 29"/>
          <p:cNvSpPr/>
          <p:nvPr/>
        </p:nvSpPr>
        <p:spPr>
          <a:xfrm>
            <a:off x="7406640" y="5074920"/>
            <a:ext cx="4389120" cy="1051560"/>
          </a:xfrm>
          <a:prstGeom prst="roundRect">
            <a:avLst>
              <a:gd name="adj" fmla="val 20869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406640" y="5120640"/>
            <a:ext cx="54864" cy="9601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680960" y="5127899"/>
            <a:ext cx="365760" cy="4001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sz="2000" dirty="0"/>
              <a:t>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166360"/>
            <a:ext cx="34747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Neon Cloud DB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46720" y="5486400"/>
            <a:ext cx="3474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/>
              <a:t>Serverless PostgreSQL, </a:t>
            </a:r>
            <a:r>
              <a:rPr dirty="0" err="1"/>
              <a:t>automatikus</a:t>
            </a:r>
            <a:r>
              <a:rPr dirty="0"/>
              <a:t> </a:t>
            </a:r>
            <a:r>
              <a:rPr dirty="0" err="1"/>
              <a:t>skálázódás</a:t>
            </a:r>
            <a:r>
              <a:rPr dirty="0"/>
              <a:t> </a:t>
            </a:r>
            <a:r>
              <a:rPr dirty="0" err="1"/>
              <a:t>és</a:t>
            </a:r>
            <a:r>
              <a:rPr dirty="0"/>
              <a:t> </a:t>
            </a:r>
            <a:r>
              <a:rPr dirty="0" err="1"/>
              <a:t>elágaztatás</a:t>
            </a:r>
            <a:r>
              <a:rPr dirty="0"/>
              <a:t> a </a:t>
            </a:r>
            <a:r>
              <a:rPr dirty="0" err="1"/>
              <a:t>fejlesztéshez</a:t>
            </a:r>
            <a:r>
              <a:rPr dirty="0"/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44" name="Rectangle 19">
            <a:extLst>
              <a:ext uri="{FF2B5EF4-FFF2-40B4-BE49-F238E27FC236}">
                <a16:creationId xmlns:a16="http://schemas.microsoft.com/office/drawing/2014/main" id="{9982C9B5-B0D9-99B8-AEAC-F2F68264943B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20">
            <a:extLst>
              <a:ext uri="{FF2B5EF4-FFF2-40B4-BE49-F238E27FC236}">
                <a16:creationId xmlns:a16="http://schemas.microsoft.com/office/drawing/2014/main" id="{1E90FE7A-D245-B163-324D-5641A41B98C9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1">
            <a:extLst>
              <a:ext uri="{FF2B5EF4-FFF2-40B4-BE49-F238E27FC236}">
                <a16:creationId xmlns:a16="http://schemas.microsoft.com/office/drawing/2014/main" id="{43F27C85-B49B-9362-0B4B-1C72EAF04F8E}"/>
              </a:ext>
            </a:extLst>
          </p:cNvPr>
          <p:cNvSpPr/>
          <p:nvPr/>
        </p:nvSpPr>
        <p:spPr>
          <a:xfrm>
            <a:off x="8127795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8" name="Kép 47">
            <a:extLst>
              <a:ext uri="{FF2B5EF4-FFF2-40B4-BE49-F238E27FC236}">
                <a16:creationId xmlns:a16="http://schemas.microsoft.com/office/drawing/2014/main" id="{2B7077CE-1F8A-4674-6DB6-29F850098D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1417320"/>
            <a:ext cx="5153122" cy="509864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FRONTEND &amp;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>
                <a:solidFill>
                  <a:srgbClr val="111827"/>
                </a:solidFill>
                <a:latin typeface="Segoe UI Semibold"/>
              </a:rPr>
              <a:t>Reszponzivitás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és</a:t>
            </a:r>
            <a:r>
              <a:rPr sz="3400" b="1" dirty="0">
                <a:solidFill>
                  <a:srgbClr val="F97316"/>
                </a:solidFill>
                <a:latin typeface="Segoe UI Semibold"/>
              </a:rPr>
              <a:t> UX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7315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9" name="TextBox 8"/>
          <p:cNvSpPr txBox="1"/>
          <p:nvPr/>
        </p:nvSpPr>
        <p:spPr>
          <a:xfrm>
            <a:off x="914400" y="162763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F97316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Mobile-first Megközelítés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6001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CSS </a:t>
            </a:r>
            <a:r>
              <a:rPr lang="hu-HU" dirty="0" err="1"/>
              <a:t>media</a:t>
            </a:r>
            <a:r>
              <a:rPr lang="hu-HU" dirty="0"/>
              <a:t> </a:t>
            </a:r>
            <a:r>
              <a:rPr lang="hu-HU" dirty="0" err="1"/>
              <a:t>query</a:t>
            </a:r>
            <a:r>
              <a:rPr lang="hu-HU" dirty="0"/>
              <a:t> </a:t>
            </a:r>
            <a:r>
              <a:rPr lang="hu-HU" dirty="0" err="1"/>
              <a:t>breakpointok</a:t>
            </a:r>
            <a:r>
              <a:rPr lang="hu-HU" dirty="0"/>
              <a:t> (640px / 1024px) használata a tökéletes illeszkedésért.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br>
              <a:rPr lang="hu-HU" dirty="0"/>
            </a:br>
            <a:endParaRPr lang="hu-HU"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242316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468880"/>
            <a:ext cx="54864" cy="73152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914400" y="256032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BFD5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2551501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53288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Modern Layout &amp; Navigáció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280720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Hamburger menü mobilon (</a:t>
            </a:r>
            <a:r>
              <a:rPr lang="hu-HU" dirty="0" err="1"/>
              <a:t>Header.vue</a:t>
            </a:r>
            <a:r>
              <a:rPr lang="hu-HU" dirty="0"/>
              <a:t>), kihúzható szűrőpanel és reszponzív </a:t>
            </a:r>
            <a:r>
              <a:rPr lang="hu-HU" dirty="0" err="1"/>
              <a:t>kártyagrid</a:t>
            </a:r>
            <a:r>
              <a:rPr lang="hu-HU" dirty="0"/>
              <a:t>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338328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429000"/>
            <a:ext cx="54864" cy="731520"/>
          </a:xfrm>
          <a:prstGeom prst="rect">
            <a:avLst/>
          </a:prstGeom>
          <a:solidFill>
            <a:srgbClr val="D1D5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52044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50215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D1D5DB"/>
                </a:solidFill>
                <a:latin typeface="Segoe UI"/>
              </a:defRPr>
            </a:pPr>
            <a:r>
              <a:rPr dirty="0"/>
              <a:t>🗺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49300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Optimalizált Térkép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54480" y="376732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Leaflet.js térkép a foglalás nézetben, érintésbarát vezérlés és átméretezés.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/>
          </a:p>
        </p:txBody>
      </p:sp>
      <p:sp>
        <p:nvSpPr>
          <p:cNvPr id="24" name="Rounded Rectangle 23"/>
          <p:cNvSpPr/>
          <p:nvPr/>
        </p:nvSpPr>
        <p:spPr>
          <a:xfrm>
            <a:off x="731520" y="434340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731520" y="4389120"/>
            <a:ext cx="54864" cy="73152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914400" y="448056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6628" y="446227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54480" y="445312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Betöltési Állapotok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54480" y="472744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Betöltési jelzők (⏳), hibaüzenetek és informatív </a:t>
            </a:r>
            <a:r>
              <a:rPr lang="hu-HU" dirty="0" err="1"/>
              <a:t>empty</a:t>
            </a:r>
            <a:r>
              <a:rPr lang="hu-HU" dirty="0"/>
              <a:t> </a:t>
            </a:r>
            <a:r>
              <a:rPr lang="hu-HU" dirty="0" err="1"/>
              <a:t>state</a:t>
            </a:r>
            <a:r>
              <a:rPr lang="hu-HU" dirty="0"/>
              <a:t> képernyők.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/>
          </a:p>
        </p:txBody>
      </p:sp>
      <p:sp>
        <p:nvSpPr>
          <p:cNvPr id="30" name="Rounded Rectangle 29"/>
          <p:cNvSpPr/>
          <p:nvPr/>
        </p:nvSpPr>
        <p:spPr>
          <a:xfrm>
            <a:off x="731520" y="5303520"/>
            <a:ext cx="6858000" cy="822960"/>
          </a:xfrm>
          <a:prstGeom prst="roundRect">
            <a:avLst>
              <a:gd name="adj" fmla="val 2666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5349240"/>
            <a:ext cx="54864" cy="7315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544068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23544" y="5437124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A78BFA"/>
                </a:solidFill>
                <a:latin typeface="Segoe UI"/>
              </a:defRPr>
            </a:pPr>
            <a:r>
              <a:rPr dirty="0"/>
              <a:t>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541324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t>Hibatűrő Űrlapok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5687568"/>
            <a:ext cx="5852160" cy="43088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Valós idejű validáció, felhasználóbarát hibaüzenetek és input visszajelzések.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lang="hu-HU" dirty="0" err="1"/>
          </a:p>
        </p:txBody>
      </p:sp>
      <p:sp>
        <p:nvSpPr>
          <p:cNvPr id="36" name="Rounded Rectangle 35"/>
          <p:cNvSpPr/>
          <p:nvPr/>
        </p:nvSpPr>
        <p:spPr>
          <a:xfrm>
            <a:off x="804672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321040" y="1965960"/>
            <a:ext cx="3108960" cy="2941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/* </a:t>
            </a:r>
            <a:r>
              <a:rPr lang="hu-HU" dirty="0" err="1"/>
              <a:t>kereses.vue</a:t>
            </a:r>
            <a:r>
              <a:rPr lang="hu-HU" dirty="0"/>
              <a:t> – Reszponzív </a:t>
            </a:r>
            <a:r>
              <a:rPr lang="hu-HU" dirty="0" err="1"/>
              <a:t>grid</a:t>
            </a:r>
            <a:r>
              <a:rPr lang="hu-HU" dirty="0"/>
              <a:t> */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.</a:t>
            </a:r>
            <a:r>
              <a:rPr lang="hu-HU" dirty="0" err="1"/>
              <a:t>cards</a:t>
            </a:r>
            <a:r>
              <a:rPr lang="hu-HU" dirty="0"/>
              <a:t>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display: </a:t>
            </a:r>
            <a:r>
              <a:rPr lang="hu-HU" dirty="0" err="1"/>
              <a:t>grid</a:t>
            </a:r>
            <a:r>
              <a:rPr lang="hu-HU" dirty="0"/>
              <a:t>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</a:t>
            </a:r>
            <a:r>
              <a:rPr lang="hu-HU" dirty="0" err="1"/>
              <a:t>grid-template-columns</a:t>
            </a:r>
            <a:r>
              <a:rPr lang="hu-HU" dirty="0"/>
              <a:t>: </a:t>
            </a:r>
            <a:r>
              <a:rPr lang="hu-HU" dirty="0" err="1"/>
              <a:t>repeat</a:t>
            </a:r>
            <a:r>
              <a:rPr lang="hu-HU" dirty="0"/>
              <a:t>(3, 1fr);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</a:t>
            </a:r>
            <a:r>
              <a:rPr lang="hu-HU" dirty="0" err="1"/>
              <a:t>gap</a:t>
            </a:r>
            <a:r>
              <a:rPr lang="hu-HU" dirty="0"/>
              <a:t>: 20px;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@media (</a:t>
            </a:r>
            <a:r>
              <a:rPr lang="hu-HU" dirty="0" err="1"/>
              <a:t>max-width</a:t>
            </a:r>
            <a:r>
              <a:rPr lang="hu-HU" dirty="0"/>
              <a:t>: 1024px)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.</a:t>
            </a:r>
            <a:r>
              <a:rPr lang="hu-HU" dirty="0" err="1"/>
              <a:t>cards</a:t>
            </a:r>
            <a:r>
              <a:rPr lang="hu-HU" dirty="0"/>
              <a:t> { </a:t>
            </a:r>
            <a:r>
              <a:rPr lang="hu-HU" dirty="0" err="1"/>
              <a:t>grid-template-columns</a:t>
            </a:r>
            <a:r>
              <a:rPr lang="hu-HU" dirty="0"/>
              <a:t>: </a:t>
            </a:r>
            <a:r>
              <a:rPr lang="hu-HU" dirty="0" err="1"/>
              <a:t>repeat</a:t>
            </a:r>
            <a:r>
              <a:rPr lang="hu-HU" dirty="0"/>
              <a:t>(2, 1fr); 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@media (</a:t>
            </a:r>
            <a:r>
              <a:rPr lang="hu-HU" dirty="0" err="1"/>
              <a:t>max-width</a:t>
            </a:r>
            <a:r>
              <a:rPr lang="hu-HU" dirty="0"/>
              <a:t>: 640px) {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.</a:t>
            </a:r>
            <a:r>
              <a:rPr lang="hu-HU" dirty="0" err="1"/>
              <a:t>cards</a:t>
            </a:r>
            <a:r>
              <a:rPr lang="hu-HU" dirty="0"/>
              <a:t> { </a:t>
            </a:r>
            <a:r>
              <a:rPr lang="hu-HU" dirty="0" err="1"/>
              <a:t>grid-template-columns</a:t>
            </a:r>
            <a:r>
              <a:rPr lang="hu-HU" dirty="0"/>
              <a:t>: 1fr; 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}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endParaRPr lang="hu-HU" dirty="0"/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/* Mobil szűrőpanel */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&lt;</a:t>
            </a:r>
            <a:r>
              <a:rPr lang="hu-HU" dirty="0" err="1"/>
              <a:t>button</a:t>
            </a:r>
            <a:r>
              <a:rPr lang="hu-HU" dirty="0"/>
              <a:t> </a:t>
            </a:r>
            <a:r>
              <a:rPr lang="hu-HU" dirty="0" err="1"/>
              <a:t>class</a:t>
            </a:r>
            <a:r>
              <a:rPr lang="hu-HU" dirty="0"/>
              <a:t>="mobile-filter-</a:t>
            </a:r>
            <a:r>
              <a:rPr lang="hu-HU" dirty="0" err="1"/>
              <a:t>btn</a:t>
            </a:r>
            <a:r>
              <a:rPr lang="hu-HU" dirty="0"/>
              <a:t>"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@click="showMobileFilters=true"&gt;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&lt;</a:t>
            </a:r>
            <a:r>
              <a:rPr lang="hu-HU" dirty="0" err="1"/>
              <a:t>aside</a:t>
            </a:r>
            <a:r>
              <a:rPr lang="hu-HU" dirty="0"/>
              <a:t> </a:t>
            </a:r>
            <a:r>
              <a:rPr lang="hu-HU" dirty="0" err="1"/>
              <a:t>class</a:t>
            </a:r>
            <a:r>
              <a:rPr lang="hu-HU" dirty="0"/>
              <a:t>="</a:t>
            </a:r>
            <a:r>
              <a:rPr lang="hu-HU" dirty="0" err="1"/>
              <a:t>sidebar</a:t>
            </a:r>
            <a:r>
              <a:rPr lang="hu-HU" dirty="0"/>
              <a:t>"</a:t>
            </a:r>
          </a:p>
          <a:p>
            <a:pPr>
              <a:spcAft>
                <a:spcPts val="100"/>
              </a:spcAft>
              <a:defRPr sz="900">
                <a:solidFill>
                  <a:srgbClr val="6B7280"/>
                </a:solidFill>
                <a:latin typeface="Consolas"/>
              </a:defRPr>
            </a:pPr>
            <a:r>
              <a:rPr lang="hu-HU" dirty="0"/>
              <a:t>  :</a:t>
            </a:r>
            <a:r>
              <a:rPr lang="hu-HU" dirty="0" err="1"/>
              <a:t>class</a:t>
            </a:r>
            <a:r>
              <a:rPr lang="hu-HU" dirty="0"/>
              <a:t>="{</a:t>
            </a:r>
            <a:r>
              <a:rPr lang="hu-HU" dirty="0" err="1"/>
              <a:t>open</a:t>
            </a:r>
            <a:r>
              <a:rPr lang="hu-HU" dirty="0"/>
              <a:t>: </a:t>
            </a:r>
            <a:r>
              <a:rPr lang="hu-HU" dirty="0" err="1"/>
              <a:t>showMobileFilters</a:t>
            </a:r>
            <a:r>
              <a:rPr lang="hu-HU" dirty="0"/>
              <a:t>}"&gt;</a:t>
            </a:r>
            <a:endParaRPr dirty="0"/>
          </a:p>
        </p:txBody>
      </p:sp>
      <p:sp>
        <p:nvSpPr>
          <p:cNvPr id="41" name="Rounded Rectangle 40"/>
          <p:cNvSpPr/>
          <p:nvPr/>
        </p:nvSpPr>
        <p:spPr>
          <a:xfrm>
            <a:off x="8503920" y="626364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503920" y="6335222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USER EXPERIENCE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5" name="Rectangle 19">
            <a:extLst>
              <a:ext uri="{FF2B5EF4-FFF2-40B4-BE49-F238E27FC236}">
                <a16:creationId xmlns:a16="http://schemas.microsoft.com/office/drawing/2014/main" id="{719E0CDB-844A-B846-8576-E9D5B209B5EC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20">
            <a:extLst>
              <a:ext uri="{FF2B5EF4-FFF2-40B4-BE49-F238E27FC236}">
                <a16:creationId xmlns:a16="http://schemas.microsoft.com/office/drawing/2014/main" id="{99F0F8BC-E653-4770-AC38-1E7BEEF9E603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21">
            <a:extLst>
              <a:ext uri="{FF2B5EF4-FFF2-40B4-BE49-F238E27FC236}">
                <a16:creationId xmlns:a16="http://schemas.microsoft.com/office/drawing/2014/main" id="{CB6467EB-2843-FEC2-AA52-7BDEEC7B1773}"/>
              </a:ext>
            </a:extLst>
          </p:cNvPr>
          <p:cNvSpPr/>
          <p:nvPr/>
        </p:nvSpPr>
        <p:spPr>
          <a:xfrm>
            <a:off x="8127795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MINŐSÉGBIZTOSÍTÁS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Tesztek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Validálás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6858000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508760"/>
            <a:ext cx="54864" cy="86868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600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554480" y="1572768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dirty="0"/>
              <a:t>Postman </a:t>
            </a:r>
            <a:r>
              <a:rPr dirty="0"/>
              <a:t>Backend </a:t>
            </a:r>
            <a:r>
              <a:rPr dirty="0" err="1"/>
              <a:t>Tesztek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1554480" y="1847088"/>
            <a:ext cx="5852160" cy="93871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dirty="0"/>
              <a:t>A Postman egy REST API fejlesztő és tesztelő eszköz. Gyűjteményekbe (</a:t>
            </a:r>
            <a:r>
              <a:rPr lang="hu-HU" dirty="0" err="1"/>
              <a:t>Collection</a:t>
            </a:r>
            <a:r>
              <a:rPr lang="hu-HU" dirty="0"/>
              <a:t>) szervezett HTTP kérésekkel teszteli az API végpontokat.</a:t>
            </a:r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br>
              <a:rPr lang="hu-HU" dirty="0"/>
            </a:br>
            <a:endParaRPr lang="hu-HU" dirty="0"/>
          </a:p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endParaRPr dirty="0"/>
          </a:p>
        </p:txBody>
      </p:sp>
      <p:sp>
        <p:nvSpPr>
          <p:cNvPr id="12" name="Rounded Rectangle 11"/>
          <p:cNvSpPr/>
          <p:nvPr/>
        </p:nvSpPr>
        <p:spPr>
          <a:xfrm>
            <a:off x="731520" y="2606040"/>
            <a:ext cx="6858000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31520" y="2651760"/>
            <a:ext cx="54864" cy="86868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914400" y="2743200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99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554480" y="2715768"/>
            <a:ext cx="5852160" cy="3231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lang="hu-HU" dirty="0"/>
              <a:t>Robot Framework</a:t>
            </a:r>
            <a:r>
              <a:rPr dirty="0" err="1"/>
              <a:t>Tesztek</a:t>
            </a:r>
            <a:endParaRPr dirty="0"/>
          </a:p>
        </p:txBody>
      </p:sp>
      <p:sp>
        <p:nvSpPr>
          <p:cNvPr id="17" name="TextBox 16"/>
          <p:cNvSpPr txBox="1"/>
          <p:nvPr/>
        </p:nvSpPr>
        <p:spPr>
          <a:xfrm>
            <a:off x="1554480" y="2990088"/>
            <a:ext cx="585216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lang="hu-HU" sz="1100" dirty="0"/>
              <a:t>Nyílt forráskódú, </a:t>
            </a:r>
            <a:r>
              <a:rPr lang="hu-HU" sz="1100" b="1" dirty="0"/>
              <a:t>kulcsszó-alapú</a:t>
            </a:r>
            <a:r>
              <a:rPr lang="hu-HU" sz="1100" dirty="0"/>
              <a:t> (</a:t>
            </a:r>
            <a:r>
              <a:rPr lang="hu-HU" sz="1100" dirty="0" err="1"/>
              <a:t>keyword-driven</a:t>
            </a:r>
            <a:r>
              <a:rPr lang="hu-HU" sz="1100" dirty="0"/>
              <a:t>) tesztautomatizálási keretrendszer</a:t>
            </a:r>
            <a:endParaRPr dirty="0"/>
          </a:p>
        </p:txBody>
      </p:sp>
      <p:sp>
        <p:nvSpPr>
          <p:cNvPr id="18" name="Rounded Rectangle 17"/>
          <p:cNvSpPr/>
          <p:nvPr/>
        </p:nvSpPr>
        <p:spPr>
          <a:xfrm>
            <a:off x="731520" y="3749039"/>
            <a:ext cx="6858000" cy="960120"/>
          </a:xfrm>
          <a:prstGeom prst="roundRect">
            <a:avLst>
              <a:gd name="adj" fmla="val 22857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3794759"/>
            <a:ext cx="54864" cy="86868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886199"/>
            <a:ext cx="502920" cy="502920"/>
          </a:xfrm>
          <a:prstGeom prst="roundRect">
            <a:avLst>
              <a:gd name="adj" fmla="val 43636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06628" y="3880612"/>
            <a:ext cx="502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60A5FA"/>
                </a:solidFill>
                <a:latin typeface="Segoe UI"/>
              </a:defRPr>
            </a:pPr>
            <a:r>
              <a:rPr dirty="0"/>
              <a:t>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3858767"/>
            <a:ext cx="5852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F2937"/>
                </a:solidFill>
                <a:latin typeface="Segoe UI Semibold"/>
              </a:defRPr>
            </a:pPr>
            <a:r>
              <a:rPr dirty="0" err="1"/>
              <a:t>Manuális</a:t>
            </a:r>
            <a:r>
              <a:rPr dirty="0"/>
              <a:t> </a:t>
            </a:r>
            <a:r>
              <a:rPr dirty="0" err="1"/>
              <a:t>Tesztelés</a:t>
            </a:r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1554480" y="4133087"/>
            <a:ext cx="5852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Teljes felhasználói folyamatok (regisztráció → foglalás → QR) gyakorlati ellenőrzése.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046720" y="1463040"/>
            <a:ext cx="3657600" cy="4572000"/>
          </a:xfrm>
          <a:prstGeom prst="roundRect">
            <a:avLst>
              <a:gd name="adj" fmla="val 6000"/>
            </a:avLst>
          </a:prstGeom>
          <a:solidFill>
            <a:srgbClr val="262626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321040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8522208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32"/>
          <p:cNvSpPr/>
          <p:nvPr/>
        </p:nvSpPr>
        <p:spPr>
          <a:xfrm>
            <a:off x="8723376" y="1645920"/>
            <a:ext cx="128016" cy="128016"/>
          </a:xfrm>
          <a:prstGeom prst="roundRect">
            <a:avLst>
              <a:gd name="adj" fmla="val 50000"/>
            </a:avLst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39" name="Rectangle 19">
            <a:extLst>
              <a:ext uri="{FF2B5EF4-FFF2-40B4-BE49-F238E27FC236}">
                <a16:creationId xmlns:a16="http://schemas.microsoft.com/office/drawing/2014/main" id="{562E87E4-D102-80EA-BDAD-1D5B3F175E41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20">
            <a:extLst>
              <a:ext uri="{FF2B5EF4-FFF2-40B4-BE49-F238E27FC236}">
                <a16:creationId xmlns:a16="http://schemas.microsoft.com/office/drawing/2014/main" id="{0B734167-710F-CAA2-B17E-FF914AC39176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21">
            <a:extLst>
              <a:ext uri="{FF2B5EF4-FFF2-40B4-BE49-F238E27FC236}">
                <a16:creationId xmlns:a16="http://schemas.microsoft.com/office/drawing/2014/main" id="{B198680C-0092-51A8-7D59-220B55ACF6E4}"/>
              </a:ext>
            </a:extLst>
          </p:cNvPr>
          <p:cNvSpPr/>
          <p:nvPr/>
        </p:nvSpPr>
        <p:spPr>
          <a:xfrm>
            <a:off x="8127795" y="6751828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226" name="Picture 10" descr="Free Postman Logo Icon - Download or Copy SVG, PNG | IconScout">
            <a:extLst>
              <a:ext uri="{FF2B5EF4-FFF2-40B4-BE49-F238E27FC236}">
                <a16:creationId xmlns:a16="http://schemas.microsoft.com/office/drawing/2014/main" id="{B82B3270-A3E9-F404-2964-6ED618C9F0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27" y="1684782"/>
            <a:ext cx="324612" cy="3246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228" name="Picture 12" descr="Robot Framework - Wikipedia">
            <a:extLst>
              <a:ext uri="{FF2B5EF4-FFF2-40B4-BE49-F238E27FC236}">
                <a16:creationId xmlns:a16="http://schemas.microsoft.com/office/drawing/2014/main" id="{0E986A23-9E92-6020-CE8C-222F42A1C1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77" y="2786126"/>
            <a:ext cx="407923" cy="4079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8" name="Kép 47">
            <a:extLst>
              <a:ext uri="{FF2B5EF4-FFF2-40B4-BE49-F238E27FC236}">
                <a16:creationId xmlns:a16="http://schemas.microsoft.com/office/drawing/2014/main" id="{CE72E5B4-BB2A-B394-88D2-2389A0BA21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0" y="1847088"/>
            <a:ext cx="1473175" cy="400964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PROJEKTMENEDZSMENT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Csapat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&amp;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Folyamatok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8961120" y="457200"/>
            <a:ext cx="2743200" cy="502920"/>
          </a:xfrm>
          <a:prstGeom prst="roundRect">
            <a:avLst>
              <a:gd name="adj" fmla="val 43636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961120" y="484632"/>
            <a:ext cx="2743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9CA3AF"/>
                </a:solidFill>
                <a:latin typeface="Segoe UI"/>
              </a:defRPr>
            </a:pPr>
            <a:r>
              <a:t>VERZIÓKEZELÉS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0" y="676656"/>
            <a:ext cx="2743200" cy="2616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374151"/>
                </a:solidFill>
                <a:latin typeface="Segoe UI"/>
              </a:defRPr>
            </a:pPr>
            <a:r>
              <a:rPr lang="hu-HU" dirty="0"/>
              <a:t>GitHub</a:t>
            </a:r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9418320" y="190195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Segoe UI"/>
              </a:defRPr>
            </a:pPr>
            <a:r>
              <a:t>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7240" y="2028190"/>
            <a:ext cx="3474720" cy="33832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22960" y="2028190"/>
            <a:ext cx="338328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057400" y="221107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2057400" y="2174494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BM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" y="321691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t>Butty Máté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508760" y="353695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FFF7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1508760" y="3555238"/>
            <a:ext cx="20116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F97316"/>
                </a:solidFill>
                <a:latin typeface="Segoe UI"/>
              </a:defRPr>
            </a:pPr>
            <a:r>
              <a:rPr dirty="0"/>
              <a:t>Backend &amp; IoT</a:t>
            </a:r>
            <a:r>
              <a:rPr lang="hu-HU" dirty="0"/>
              <a:t> &amp; Adatbázis</a:t>
            </a:r>
            <a:endParaRPr dirty="0"/>
          </a:p>
        </p:txBody>
      </p:sp>
      <p:sp>
        <p:nvSpPr>
          <p:cNvPr id="39" name="Rectangle 38"/>
          <p:cNvSpPr/>
          <p:nvPr/>
        </p:nvSpPr>
        <p:spPr>
          <a:xfrm>
            <a:off x="1051560" y="3948430"/>
            <a:ext cx="2926080" cy="182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1234440" y="408559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Laravel API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34440" y="440563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ESP32 / QR Logika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234440" y="472567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Auth &amp; Security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26279" y="2028190"/>
            <a:ext cx="3474720" cy="33832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571999" y="2028190"/>
            <a:ext cx="338328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5806439" y="221107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5806439" y="2174494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CSG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26279" y="321691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t>Csenki Gergely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257799" y="353695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ECFD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257799" y="3555238"/>
            <a:ext cx="201168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10B981"/>
                </a:solidFill>
                <a:latin typeface="Segoe UI"/>
              </a:defRPr>
            </a:pPr>
            <a:r>
              <a:rPr dirty="0"/>
              <a:t>Frontend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800599" y="3948430"/>
            <a:ext cx="2926080" cy="182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4983479" y="408559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Vue.js 3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983479" y="440563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Tailwind Design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983479" y="4725670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Leaflet Maps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275320" y="2028190"/>
            <a:ext cx="3474720" cy="338328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8321040" y="2028190"/>
            <a:ext cx="3383280" cy="54864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ounded Rectangle 55"/>
          <p:cNvSpPr/>
          <p:nvPr/>
        </p:nvSpPr>
        <p:spPr>
          <a:xfrm>
            <a:off x="9555480" y="2211070"/>
            <a:ext cx="914400" cy="914400"/>
          </a:xfrm>
          <a:prstGeom prst="roundRect">
            <a:avLst>
              <a:gd name="adj" fmla="val 24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/>
          <p:cNvSpPr txBox="1"/>
          <p:nvPr/>
        </p:nvSpPr>
        <p:spPr>
          <a:xfrm>
            <a:off x="9555480" y="2188210"/>
            <a:ext cx="914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3B82F6"/>
                </a:solidFill>
                <a:latin typeface="Segoe UI"/>
              </a:defRPr>
            </a:pPr>
            <a:r>
              <a:t>DA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75320" y="3216910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1">
                <a:solidFill>
                  <a:srgbClr val="1F2937"/>
                </a:solidFill>
                <a:latin typeface="Segoe UI"/>
              </a:defRPr>
            </a:pPr>
            <a:r>
              <a:t>Dicső András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006840" y="3536950"/>
            <a:ext cx="2011680" cy="320040"/>
          </a:xfrm>
          <a:prstGeom prst="roundRect">
            <a:avLst>
              <a:gd name="adj" fmla="val 50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8961120" y="3555238"/>
            <a:ext cx="2133600" cy="2462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>
                <a:solidFill>
                  <a:srgbClr val="3B82F6"/>
                </a:solidFill>
                <a:latin typeface="Segoe UI"/>
              </a:defRPr>
            </a:pPr>
            <a:r>
              <a:rPr lang="hu-HU" dirty="0"/>
              <a:t>Backend &amp; </a:t>
            </a:r>
            <a:r>
              <a:rPr dirty="0" err="1"/>
              <a:t>Adatbázis</a:t>
            </a:r>
            <a:r>
              <a:rPr dirty="0"/>
              <a:t> &amp; DevOps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549640" y="3948430"/>
            <a:ext cx="2926080" cy="18288"/>
          </a:xfrm>
          <a:prstGeom prst="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8732520" y="437032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●  PostgreSQL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732520" y="469036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Adatmodellezés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32520" y="5010404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Cloud Deploy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67" name="Rectangle 19">
            <a:extLst>
              <a:ext uri="{FF2B5EF4-FFF2-40B4-BE49-F238E27FC236}">
                <a16:creationId xmlns:a16="http://schemas.microsoft.com/office/drawing/2014/main" id="{8904C299-7BFE-C675-B859-CE43559D559B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20">
            <a:extLst>
              <a:ext uri="{FF2B5EF4-FFF2-40B4-BE49-F238E27FC236}">
                <a16:creationId xmlns:a16="http://schemas.microsoft.com/office/drawing/2014/main" id="{A6E0DB07-13D9-CB84-5104-279C374AD8DF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21">
            <a:extLst>
              <a:ext uri="{FF2B5EF4-FFF2-40B4-BE49-F238E27FC236}">
                <a16:creationId xmlns:a16="http://schemas.microsoft.com/office/drawing/2014/main" id="{68F5C285-D074-6121-0F0D-F71004693896}"/>
              </a:ext>
            </a:extLst>
          </p:cNvPr>
          <p:cNvSpPr/>
          <p:nvPr/>
        </p:nvSpPr>
        <p:spPr>
          <a:xfrm>
            <a:off x="8127795" y="6733540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1">
            <a:extLst>
              <a:ext uri="{FF2B5EF4-FFF2-40B4-BE49-F238E27FC236}">
                <a16:creationId xmlns:a16="http://schemas.microsoft.com/office/drawing/2014/main" id="{5156D3DF-E4AF-E2B7-6186-320ADEC80272}"/>
              </a:ext>
            </a:extLst>
          </p:cNvPr>
          <p:cNvSpPr txBox="1"/>
          <p:nvPr/>
        </p:nvSpPr>
        <p:spPr>
          <a:xfrm>
            <a:off x="1229258" y="5014976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rPr dirty="0"/>
              <a:t>●  PostgreSQL</a:t>
            </a:r>
          </a:p>
        </p:txBody>
      </p:sp>
      <p:sp>
        <p:nvSpPr>
          <p:cNvPr id="71" name="TextBox 39">
            <a:extLst>
              <a:ext uri="{FF2B5EF4-FFF2-40B4-BE49-F238E27FC236}">
                <a16:creationId xmlns:a16="http://schemas.microsoft.com/office/drawing/2014/main" id="{418C3F17-D301-CC0D-5539-DCBE2967E9F4}"/>
              </a:ext>
            </a:extLst>
          </p:cNvPr>
          <p:cNvSpPr txBox="1"/>
          <p:nvPr/>
        </p:nvSpPr>
        <p:spPr>
          <a:xfrm>
            <a:off x="8742424" y="4077843"/>
            <a:ext cx="2834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4B5563"/>
                </a:solidFill>
                <a:latin typeface="Segoe UI"/>
              </a:defRPr>
            </a:pPr>
            <a:r>
              <a:t>●  Laravel API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914400" y="594360"/>
            <a:ext cx="685800" cy="54864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828800" y="502920"/>
            <a:ext cx="45720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9CA3AF"/>
                </a:solidFill>
                <a:latin typeface="Segoe UI"/>
              </a:defRPr>
            </a:pPr>
            <a:r>
              <a:t>ROADMAP 2026+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822960"/>
            <a:ext cx="91440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 dirty="0" err="1">
                <a:solidFill>
                  <a:srgbClr val="111827"/>
                </a:solidFill>
                <a:latin typeface="Segoe UI Semibold"/>
              </a:rPr>
              <a:t>Jövőbeli</a:t>
            </a:r>
            <a:r>
              <a:rPr sz="3400" b="1" dirty="0">
                <a:solidFill>
                  <a:srgbClr val="111827"/>
                </a:solidFill>
                <a:latin typeface="Segoe UI Semibold"/>
              </a:rPr>
              <a:t> </a:t>
            </a:r>
            <a:r>
              <a:rPr sz="3400" b="1" dirty="0" err="1">
                <a:solidFill>
                  <a:srgbClr val="F97316"/>
                </a:solidFill>
                <a:latin typeface="Segoe UI Semibold"/>
              </a:rPr>
              <a:t>Fejlesztések</a:t>
            </a:r>
            <a:endParaRPr sz="3400" b="1" dirty="0">
              <a:solidFill>
                <a:srgbClr val="F97316"/>
              </a:solidFill>
              <a:latin typeface="Segoe UI Semibold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731520" y="137160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31520" y="1417320"/>
            <a:ext cx="54864" cy="1234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14400" y="155448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EEC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10792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F97316"/>
                </a:solidFill>
                <a:latin typeface="Segoe UI"/>
              </a:defRPr>
            </a:pPr>
            <a:r>
              <a:rPr dirty="0"/>
              <a:t>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508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Fizetési integráció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18288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Stripe és Barion rendszerek bekötése az azonnali online fizetésért.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37160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663440" y="1417320"/>
            <a:ext cx="54864" cy="123444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Rounded Rectangle 13"/>
          <p:cNvSpPr/>
          <p:nvPr/>
        </p:nvSpPr>
        <p:spPr>
          <a:xfrm>
            <a:off x="4846320" y="155448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99BB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855464" y="154178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10B981"/>
                </a:solidFill>
                <a:latin typeface="Segoe UI"/>
              </a:defRPr>
            </a:pPr>
            <a:r>
              <a:rPr dirty="0"/>
              <a:t>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150876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E-mail és Push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40680" y="182880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Automatikus értesítések foglalásról, lejáratról és kemping hírekről.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92608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31520" y="2971800"/>
            <a:ext cx="54864" cy="123444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914400" y="310896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" y="31272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60A5FA"/>
                </a:solidFill>
                <a:latin typeface="Segoe UI"/>
              </a:defRPr>
            </a:pPr>
            <a:r>
              <a:t>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0632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PWA / Mobilapp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Progresszív webalkalmazás és dedikált natív mobil applikáció.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663440" y="292608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4663440" y="2971800"/>
            <a:ext cx="54864" cy="123444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4846320" y="310896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F5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846320" y="312724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A78BFA"/>
                </a:solidFill>
                <a:latin typeface="Segoe UI"/>
              </a:defRPr>
            </a:pPr>
            <a:r>
              <a:t>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40680" y="306324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AI Ajánlórendszer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40680" y="338328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Személyre szabott hely- és programajánlatok mesterséges intelligenciával.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31520" y="448056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731520" y="4526280"/>
            <a:ext cx="54864" cy="1234440"/>
          </a:xfrm>
          <a:prstGeom prst="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ounded Rectangle 31"/>
          <p:cNvSpPr/>
          <p:nvPr/>
        </p:nvSpPr>
        <p:spPr>
          <a:xfrm>
            <a:off x="914400" y="466344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FEFC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" y="46817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EAB308"/>
                </a:solidFill>
                <a:latin typeface="Segoe UI"/>
              </a:defRPr>
            </a:pPr>
            <a:r>
              <a:t>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6177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Többnyelvűség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08760" y="49377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rPr dirty="0" err="1"/>
              <a:t>Teljes</a:t>
            </a:r>
            <a:r>
              <a:rPr dirty="0"/>
              <a:t> </a:t>
            </a:r>
            <a:r>
              <a:rPr dirty="0" err="1"/>
              <a:t>körű</a:t>
            </a:r>
            <a:r>
              <a:rPr dirty="0"/>
              <a:t> </a:t>
            </a:r>
            <a:r>
              <a:rPr dirty="0" err="1"/>
              <a:t>lokalizáció</a:t>
            </a:r>
            <a:r>
              <a:rPr dirty="0"/>
              <a:t> (i18n) a </a:t>
            </a:r>
            <a:r>
              <a:rPr dirty="0" err="1"/>
              <a:t>nemzetközi</a:t>
            </a:r>
            <a:r>
              <a:rPr dirty="0"/>
              <a:t> </a:t>
            </a:r>
            <a:r>
              <a:rPr dirty="0" err="1"/>
              <a:t>vendégek</a:t>
            </a:r>
            <a:r>
              <a:rPr dirty="0"/>
              <a:t> </a:t>
            </a:r>
            <a:r>
              <a:rPr dirty="0" err="1"/>
              <a:t>kiszolgálásáért</a:t>
            </a:r>
            <a:r>
              <a:rPr dirty="0"/>
              <a:t>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663440" y="4480560"/>
            <a:ext cx="3657600" cy="1325880"/>
          </a:xfrm>
          <a:prstGeom prst="roundRect">
            <a:avLst>
              <a:gd name="adj" fmla="val 16551"/>
            </a:avLst>
          </a:prstGeom>
          <a:solidFill>
            <a:srgbClr val="FFFFFF"/>
          </a:solidFill>
          <a:ln w="9525">
            <a:solidFill>
              <a:srgbClr val="E5E7EB"/>
            </a:solidFill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663440" y="4526280"/>
            <a:ext cx="54864" cy="1234440"/>
          </a:xfrm>
          <a:prstGeom prst="rect">
            <a:avLst/>
          </a:prstGeom>
          <a:solidFill>
            <a:srgbClr val="9CA3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46320" y="4663440"/>
            <a:ext cx="457200" cy="457200"/>
          </a:xfrm>
          <a:prstGeom prst="roundRect">
            <a:avLst>
              <a:gd name="adj" fmla="val 48000"/>
            </a:avLst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846320" y="4681728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🐳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40680" y="4617720"/>
            <a:ext cx="26517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Segoe UI Semibold"/>
              </a:defRPr>
            </a:pPr>
            <a:r>
              <a:t>Docker / CI-CD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40680" y="4937760"/>
            <a:ext cx="27432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B7280"/>
                </a:solidFill>
                <a:latin typeface="Segoe UI"/>
              </a:defRPr>
            </a:pPr>
            <a:r>
              <a:t>Konténerizált környezet és automatizált deployment pipeline-ok.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686800" y="1371600"/>
            <a:ext cx="3200400" cy="4114800"/>
          </a:xfrm>
          <a:prstGeom prst="roundRect">
            <a:avLst>
              <a:gd name="adj" fmla="val 6857"/>
            </a:avLst>
          </a:prstGeom>
          <a:solidFill>
            <a:srgbClr val="111827"/>
          </a:solidFill>
          <a:ln>
            <a:noFill/>
          </a:ln>
          <a:effectLst>
            <a:outerShdw blurRad="63500" dist="25400" dir="5400000" algn="tl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01200" y="2011680"/>
            <a:ext cx="1280160" cy="1280160"/>
          </a:xfrm>
          <a:prstGeom prst="roundRect">
            <a:avLst>
              <a:gd name="adj" fmla="val 17142"/>
            </a:avLst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601200" y="2057400"/>
            <a:ext cx="12801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4000" b="0">
                <a:solidFill>
                  <a:srgbClr val="FFFFFF"/>
                </a:solidFill>
                <a:latin typeface="Segoe UI"/>
              </a:defRPr>
            </a:pPr>
            <a:r>
              <a:t>🚀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686800" y="347472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CampSite 2.0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800" y="3931920"/>
            <a:ext cx="3200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0">
                <a:solidFill>
                  <a:srgbClr val="9CA3AF"/>
                </a:solidFill>
                <a:latin typeface="Segoe UI"/>
              </a:defRPr>
            </a:pPr>
            <a:r>
              <a:t>A kempingezés jövője</a:t>
            </a:r>
            <a:br/>
            <a:r>
              <a:t>folyamatos fejlesztésekkel.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869680" y="5760720"/>
            <a:ext cx="2743200" cy="365760"/>
          </a:xfrm>
          <a:prstGeom prst="roundRect">
            <a:avLst>
              <a:gd name="adj" fmla="val 50000"/>
            </a:avLst>
          </a:prstGeom>
          <a:solidFill>
            <a:srgbClr val="F9FAFB"/>
          </a:solidFill>
          <a:ln w="9525"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8869680" y="5829300"/>
            <a:ext cx="2743200" cy="2308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6B7280"/>
                </a:solidFill>
                <a:latin typeface="Segoe UI"/>
              </a:defRPr>
            </a:pPr>
            <a:r>
              <a:rPr dirty="0"/>
              <a:t>DEVELOPMENT BRANCH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55" name="Rectangle 19">
            <a:extLst>
              <a:ext uri="{FF2B5EF4-FFF2-40B4-BE49-F238E27FC236}">
                <a16:creationId xmlns:a16="http://schemas.microsoft.com/office/drawing/2014/main" id="{5593DA67-BD12-3042-ED11-6B967A6B7C88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20">
            <a:extLst>
              <a:ext uri="{FF2B5EF4-FFF2-40B4-BE49-F238E27FC236}">
                <a16:creationId xmlns:a16="http://schemas.microsoft.com/office/drawing/2014/main" id="{81215E2A-C2A4-F770-3638-9AFF26D68DFD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21">
            <a:extLst>
              <a:ext uri="{FF2B5EF4-FFF2-40B4-BE49-F238E27FC236}">
                <a16:creationId xmlns:a16="http://schemas.microsoft.com/office/drawing/2014/main" id="{E5327FF6-06E6-8E03-C9BE-752475757A53}"/>
              </a:ext>
            </a:extLst>
          </p:cNvPr>
          <p:cNvSpPr/>
          <p:nvPr/>
        </p:nvSpPr>
        <p:spPr>
          <a:xfrm>
            <a:off x="8127795" y="6733540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_campsite_dot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108960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6B7280"/>
                </a:solidFill>
                <a:latin typeface="Segoe UI"/>
              </a:defRPr>
            </a:pPr>
            <a:r>
              <a:t>KEMPING HELYFOGLALÓ ÉS BELÉPTETŐ RENDSZER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846320" y="3657600"/>
            <a:ext cx="914400" cy="914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760720" y="3657600"/>
            <a:ext cx="914400" cy="91440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675120" y="3657600"/>
            <a:ext cx="640080" cy="914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4200" b="1">
                <a:solidFill>
                  <a:srgbClr val="1F2937"/>
                </a:solidFill>
                <a:latin typeface="Segoe UI"/>
              </a:defRPr>
            </a:pPr>
            <a:r>
              <a:t>Köszönjük a figyelmet!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60175" y="640080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9CA3AF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30" name="Rectangle 19">
            <a:extLst>
              <a:ext uri="{FF2B5EF4-FFF2-40B4-BE49-F238E27FC236}">
                <a16:creationId xmlns:a16="http://schemas.microsoft.com/office/drawing/2014/main" id="{7571B4E5-6FE0-ADDC-90B6-6BA131A6BD1E}"/>
              </a:ext>
            </a:extLst>
          </p:cNvPr>
          <p:cNvSpPr/>
          <p:nvPr/>
        </p:nvSpPr>
        <p:spPr>
          <a:xfrm>
            <a:off x="0" y="6751828"/>
            <a:ext cx="4063898" cy="109728"/>
          </a:xfrm>
          <a:prstGeom prst="rect">
            <a:avLst/>
          </a:prstGeom>
          <a:solidFill>
            <a:srgbClr val="DF8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20">
            <a:extLst>
              <a:ext uri="{FF2B5EF4-FFF2-40B4-BE49-F238E27FC236}">
                <a16:creationId xmlns:a16="http://schemas.microsoft.com/office/drawing/2014/main" id="{79E09754-6772-344D-1F70-EF09474F8AAA}"/>
              </a:ext>
            </a:extLst>
          </p:cNvPr>
          <p:cNvSpPr/>
          <p:nvPr/>
        </p:nvSpPr>
        <p:spPr>
          <a:xfrm>
            <a:off x="4063898" y="6751828"/>
            <a:ext cx="4063898" cy="109728"/>
          </a:xfrm>
          <a:prstGeom prst="rect">
            <a:avLst/>
          </a:prstGeom>
          <a:solidFill>
            <a:srgbClr val="516E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21">
            <a:extLst>
              <a:ext uri="{FF2B5EF4-FFF2-40B4-BE49-F238E27FC236}">
                <a16:creationId xmlns:a16="http://schemas.microsoft.com/office/drawing/2014/main" id="{9962EE30-AF37-3509-D8C4-C1969FD50C12}"/>
              </a:ext>
            </a:extLst>
          </p:cNvPr>
          <p:cNvSpPr/>
          <p:nvPr/>
        </p:nvSpPr>
        <p:spPr>
          <a:xfrm>
            <a:off x="8127795" y="6733540"/>
            <a:ext cx="4063899" cy="109728"/>
          </a:xfrm>
          <a:prstGeom prst="rect">
            <a:avLst/>
          </a:prstGeom>
          <a:solidFill>
            <a:srgbClr val="F9FA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Ábra 33">
            <a:extLst>
              <a:ext uri="{FF2B5EF4-FFF2-40B4-BE49-F238E27FC236}">
                <a16:creationId xmlns:a16="http://schemas.microsoft.com/office/drawing/2014/main" id="{329BF825-68DE-5CE3-16FC-E93947A2FA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45573" y="741680"/>
            <a:ext cx="6419893" cy="27330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9525">
          <a:solidFill>
            <a:srgbClr val="E5E7EB"/>
          </a:solidFill>
        </a:ln>
        <a:effectLst>
          <a:outerShdw blurRad="63500" dist="25400" dir="5400000" algn="tl" rotWithShape="0">
            <a:srgbClr val="000000">
              <a:alpha val="15000"/>
            </a:srgbClr>
          </a:outerShdw>
        </a:effectLst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2217</Words>
  <Application>Microsoft Office PowerPoint</Application>
  <PresentationFormat>Szélesvásznú</PresentationFormat>
  <Paragraphs>387</Paragraphs>
  <Slides>14</Slides>
  <Notes>11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5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14</vt:i4>
      </vt:variant>
    </vt:vector>
  </HeadingPairs>
  <TitlesOfParts>
    <vt:vector size="20" baseType="lpstr">
      <vt:lpstr>Aptos</vt:lpstr>
      <vt:lpstr>Arial</vt:lpstr>
      <vt:lpstr>Calibri</vt:lpstr>
      <vt:lpstr>Segoe UI</vt:lpstr>
      <vt:lpstr>Segoe UI Semibold</vt:lpstr>
      <vt:lpstr>Office Theme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máté butty</dc:creator>
  <cp:keywords/>
  <dc:description>generated using python-pptx</dc:description>
  <cp:lastModifiedBy>Máté Butty</cp:lastModifiedBy>
  <cp:revision>4</cp:revision>
  <dcterms:created xsi:type="dcterms:W3CDTF">2013-01-27T09:14:16Z</dcterms:created>
  <dcterms:modified xsi:type="dcterms:W3CDTF">2026-03-05T22:09:03Z</dcterms:modified>
  <cp:category/>
</cp:coreProperties>
</file>